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3" r:id="rId4"/>
    <p:sldId id="259" r:id="rId5"/>
    <p:sldId id="264" r:id="rId6"/>
    <p:sldId id="284" r:id="rId7"/>
    <p:sldId id="285" r:id="rId8"/>
    <p:sldId id="261" r:id="rId9"/>
    <p:sldId id="265" r:id="rId10"/>
    <p:sldId id="276" r:id="rId11"/>
    <p:sldId id="277" r:id="rId12"/>
    <p:sldId id="266" r:id="rId13"/>
    <p:sldId id="278" r:id="rId14"/>
    <p:sldId id="279" r:id="rId15"/>
    <p:sldId id="280" r:id="rId16"/>
    <p:sldId id="281" r:id="rId17"/>
    <p:sldId id="260" r:id="rId18"/>
    <p:sldId id="283" r:id="rId19"/>
    <p:sldId id="262" r:id="rId20"/>
    <p:sldId id="268" r:id="rId21"/>
    <p:sldId id="269" r:id="rId22"/>
    <p:sldId id="26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88" autoAdjust="0"/>
    <p:restoredTop sz="94557"/>
  </p:normalViewPr>
  <p:slideViewPr>
    <p:cSldViewPr snapToGrid="0">
      <p:cViewPr>
        <p:scale>
          <a:sx n="100" d="100"/>
          <a:sy n="100" d="100"/>
        </p:scale>
        <p:origin x="1208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E4411-F617-6844-B543-1D0C1529BD0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11362C-BAF5-F649-B307-735187DD2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831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0CC09-4F99-73CF-3366-BF8553ECF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C83AEC-9108-F6A8-E7DC-3EC9CBC83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821C4-69B6-52C3-D54E-D60D3B6C6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F18E1-7780-0444-88D5-285D16C52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649C-D98B-6F9D-14BF-9570D30EB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9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9F207-E794-97E7-C24F-26200A8AC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0554C-0CAC-9D52-F13B-6508B076C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4980E-BC28-A35E-E794-F0565658A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B525C-D173-F9E8-331C-2C132E1A4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9FE64-D721-0A1E-66D3-C9B6123AE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15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18E39-A926-C5D4-9AD2-2FA4CA393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E4202-5CE0-9436-AC2D-95C4864A0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FBABE-7373-84FF-EB0E-C5D958B89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7F5CC-9E1E-F96B-112F-38B46DFCE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EFD4D-8A85-6469-838B-313ECA182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23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D3CA-F062-F77B-B074-2A33BAC09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5AA04-2768-7AC8-DBBB-A6B82146F0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78161-6FD8-7284-D0FA-83D5C5DD6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5B2D6-474C-6E37-53B5-7091AA123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31AC5-061B-0D20-719B-32067F68B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8CA48-E113-973F-F95E-F67A004C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121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5ABF5-1272-0F68-EDEF-3453397E4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7C664-453D-E132-E2B4-24BFCCBE1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72550-C703-F076-4460-4A4FEE8C5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6E0DCA-2861-F3F6-B1CB-72364E671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745173-E99E-415F-8BD5-99EA69B61D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F21D1C-2FAD-FA37-88B0-C3659B8E4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8E07A7-5BF9-9B60-25C5-13688C0A0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90E01F-A640-4955-1894-A519A9086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62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770AB-F38F-99EA-731C-6BA901DB4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1A3DDD-C652-331A-175D-7D760C357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2C9BC-97D0-A2CB-88C8-4CF04BBA5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B02680-3FDF-DFD1-6CB5-5D4B747B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60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5FE201-D63C-60D5-E2EC-B9EBCB9E3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66D342-1931-2AA9-7687-847C75860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660A9-F43D-227C-8234-BEE60AD3E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93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C7EEB-6C02-EE30-731A-E8DC27692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31621-A74F-6FD6-AF9C-7460CA255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421CD-9C08-A7FA-6BA1-068FB504A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B45AB-3867-817E-B76E-AD80391FF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23CDE-B99F-2B00-1084-5515E91F8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F4A5B-153A-F4A2-81D6-4F6CDAC92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311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0E77E-622F-E699-2C0C-A966E665C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5DF43E-D898-8F05-6B59-BC75E23ED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66EBC-ABE3-35FC-79CE-41D83BEFD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D10DD-E564-924A-81B0-550512800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CF2CA-200F-385D-6F98-F5283340C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D4557-82BF-F2CD-B5F6-453611F66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64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4E643-7B29-C55D-D719-874E338A9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7B2EFE-7A94-BB1F-7602-AC3179B94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B5185-4074-5175-94CD-23FE2ABAB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03EA6-4656-6E06-A172-6F5455A6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7D197-7D89-DA98-857A-C77CE6B7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081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997297-C2CE-3D6C-773C-F5EB862FF4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3970A-2CB4-0F8F-BDA7-74352434A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5B086-673B-B729-FD68-7FE63355E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C8E6A-802F-3B39-3714-87A12F88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20551-5951-58F9-8A60-63056AC97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93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90F075-3597-1995-5933-30721CFFF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7" y="136526"/>
            <a:ext cx="11861805" cy="1048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E9CD7-3294-BD6F-6A39-47EEF2A68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67" y="1444624"/>
            <a:ext cx="11260666" cy="4676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95D53-F3BA-4A9E-FB43-580B243B25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239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20/01/2026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DC6F5-2297-C89D-3F5F-22CFBCDDED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Stefan Cristi Zugravel, elettronica base, TPS lezione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70B34-7185-C310-F8B4-DCF2EB1AC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7100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15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FF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4E2A9-1BBB-033E-FB60-A294602232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t-IT" noProof="0" dirty="0"/>
              <a:t>Lezione 4</a:t>
            </a:r>
            <a:br>
              <a:rPr lang="it-IT" noProof="0" dirty="0"/>
            </a:br>
            <a:r>
              <a:rPr lang="en-US" i="1"/>
              <a:t>Introduction to FPGAs and Xilinx devices</a:t>
            </a:r>
            <a:endParaRPr lang="it-IT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9211EB-655F-BF24-C191-876947CFA1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noProof="0" dirty="0"/>
              <a:t>Stefan Cristi Zugravel</a:t>
            </a:r>
            <a:br>
              <a:rPr lang="it-IT" noProof="0" dirty="0"/>
            </a:br>
            <a:r>
              <a:rPr lang="it-IT" dirty="0"/>
              <a:t>20</a:t>
            </a:r>
            <a:r>
              <a:rPr lang="it-IT" noProof="0" dirty="0"/>
              <a:t>/01/2026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8F82B-882C-1CE2-F12C-EDDE04BDA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4D199-64B3-165F-3947-6C87785A3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32777-6923-89C2-B843-DEF51F5D4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65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64B3C-B2F0-057A-4F99-5926DF407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times of digital electronics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069D2-11D9-4624-4A46-6A34A3991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49AE5E-D7FC-B204-4711-0A934E3F2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E9EEB-2B8C-6504-1628-261C93B53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2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58239E4-7A86-095F-B5E2-F222E5AC9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384" y="1008353"/>
            <a:ext cx="5721202" cy="4406329"/>
          </a:xfrm>
          <a:prstGeom prst="rect">
            <a:avLst/>
          </a:prstGeom>
        </p:spPr>
      </p:pic>
      <p:pic>
        <p:nvPicPr>
          <p:cNvPr id="6" name="Immagine 6">
            <a:extLst>
              <a:ext uri="{FF2B5EF4-FFF2-40B4-BE49-F238E27FC236}">
                <a16:creationId xmlns:a16="http://schemas.microsoft.com/office/drawing/2014/main" id="{2599E5F0-5183-0B92-5213-AA76A4245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4" y="1008353"/>
            <a:ext cx="6303792" cy="440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19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4A1708-C489-83B5-CB5E-1D0CDDD42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Why</a:t>
            </a:r>
            <a:r>
              <a:rPr lang="it-IT" dirty="0"/>
              <a:t> </a:t>
            </a:r>
            <a:r>
              <a:rPr lang="it-IT" dirty="0" err="1"/>
              <a:t>programmable</a:t>
            </a:r>
            <a:r>
              <a:rPr lang="it-IT" dirty="0"/>
              <a:t> </a:t>
            </a:r>
            <a:r>
              <a:rPr lang="it-IT" dirty="0" err="1"/>
              <a:t>ICs</a:t>
            </a:r>
            <a:r>
              <a:rPr lang="it-IT" dirty="0"/>
              <a:t>?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9B32DC3-3D15-CE07-5144-458A4AB4E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DC62C44-CD6F-911C-E1F8-0296A768F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C98A8A4-0D82-E2F3-4864-0650B9107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3</a:t>
            </a:fld>
            <a:endParaRPr lang="en-US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A228A20-9B05-2ACD-203D-079B101EB5F8}"/>
              </a:ext>
            </a:extLst>
          </p:cNvPr>
          <p:cNvSpPr txBox="1"/>
          <p:nvPr/>
        </p:nvSpPr>
        <p:spPr>
          <a:xfrm>
            <a:off x="458849" y="1251534"/>
            <a:ext cx="986089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/>
              <a:t>Producing a Chip costs much more than </a:t>
            </a:r>
            <a:r>
              <a:rPr lang="it-IT" sz="2400" b="0" i="0" u="none" strike="noStrike" baseline="0" dirty="0" err="1"/>
              <a:t>producing</a:t>
            </a:r>
            <a:r>
              <a:rPr lang="it-IT" sz="2400" b="0" i="0" u="none" strike="noStrike" baseline="0" dirty="0"/>
              <a:t> a PCB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/>
              <a:t>Using one Chip on many PCBs increases Number of Chips and reduces Costs per Chip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/>
              <a:t>If a Chip is programmable, it can be used on many PCBs in different situations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/>
              <a:t>Producing one wafer costs ~ 10k€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/>
              <a:t>Not included manpower to design wafer &amp; </a:t>
            </a:r>
            <a:r>
              <a:rPr lang="it-IT" sz="2400" b="0" i="0" u="none" strike="noStrike" baseline="0" dirty="0"/>
              <a:t>packaging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/>
              <a:t>Saving space on a PCB</a:t>
            </a:r>
            <a:endParaRPr lang="it-IT" sz="2400" dirty="0"/>
          </a:p>
        </p:txBody>
      </p:sp>
      <p:pic>
        <p:nvPicPr>
          <p:cNvPr id="1026" name="Picture 2" descr="Wafer di silicio/Wafer Completo di Chip / Wafer di Silicio Monocristallino  Wafer 4 Pollici 6 Pollici 8 Pollici 12 Pollici Del Silicone Circuito chip  IC PCB Board| Alibaba.com">
            <a:extLst>
              <a:ext uri="{FF2B5EF4-FFF2-40B4-BE49-F238E27FC236}">
                <a16:creationId xmlns:a16="http://schemas.microsoft.com/office/drawing/2014/main" id="{DBFF3418-66C2-44B1-1FF3-5AC2B451A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865" y="2961612"/>
            <a:ext cx="3175747" cy="2003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a Wafer? - Component By Özdisan">
            <a:extLst>
              <a:ext uri="{FF2B5EF4-FFF2-40B4-BE49-F238E27FC236}">
                <a16:creationId xmlns:a16="http://schemas.microsoft.com/office/drawing/2014/main" id="{F4A55D64-3B19-0297-AAF5-56BCAD8704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" t="32230" r="1458" b="10586"/>
          <a:stretch>
            <a:fillRect/>
          </a:stretch>
        </p:blipFill>
        <p:spPr bwMode="auto">
          <a:xfrm>
            <a:off x="1272986" y="4527989"/>
            <a:ext cx="6069110" cy="1616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451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1E47E-C9F1-4473-EF3A-12ACF1760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What</a:t>
            </a:r>
            <a:r>
              <a:rPr lang="it-IT" dirty="0"/>
              <a:t> are </a:t>
            </a:r>
            <a:r>
              <a:rPr lang="it-IT" dirty="0" err="1"/>
              <a:t>FPGAs</a:t>
            </a:r>
            <a:r>
              <a:rPr lang="it-IT" dirty="0"/>
              <a:t>?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86BCD4-44AE-0281-1B1D-72B9CD78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3D8BD6-9020-3566-C328-14E09DCF8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8AD1A5-F549-1C27-91F8-0EDD5C616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4</a:t>
            </a:fld>
            <a:endParaRPr lang="en-US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15BE231-2D53-3CC2-E74A-83366F4E2469}"/>
              </a:ext>
            </a:extLst>
          </p:cNvPr>
          <p:cNvSpPr txBox="1"/>
          <p:nvPr/>
        </p:nvSpPr>
        <p:spPr>
          <a:xfrm>
            <a:off x="2244545" y="1271059"/>
            <a:ext cx="73091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b="1" i="0" u="none" strike="noStrike" baseline="0" dirty="0">
                <a:solidFill>
                  <a:srgbClr val="FF0000"/>
                </a:solidFill>
              </a:rPr>
              <a:t>F</a:t>
            </a:r>
            <a:r>
              <a:rPr lang="it-IT" sz="3600" b="1" i="0" u="none" strike="noStrike" baseline="0" dirty="0">
                <a:solidFill>
                  <a:srgbClr val="000000"/>
                </a:solidFill>
              </a:rPr>
              <a:t>ield </a:t>
            </a:r>
            <a:r>
              <a:rPr lang="it-IT" sz="3600" b="1" i="0" u="none" strike="noStrike" baseline="0" dirty="0" err="1">
                <a:solidFill>
                  <a:srgbClr val="FF0000"/>
                </a:solidFill>
              </a:rPr>
              <a:t>P</a:t>
            </a:r>
            <a:r>
              <a:rPr lang="it-IT" sz="3600" b="1" i="0" u="none" strike="noStrike" baseline="0" dirty="0" err="1">
                <a:solidFill>
                  <a:srgbClr val="000000"/>
                </a:solidFill>
              </a:rPr>
              <a:t>rogrammable</a:t>
            </a:r>
            <a:r>
              <a:rPr lang="it-IT" sz="3600" b="1" i="0" u="none" strike="noStrike" baseline="0" dirty="0">
                <a:solidFill>
                  <a:srgbClr val="000000"/>
                </a:solidFill>
              </a:rPr>
              <a:t> </a:t>
            </a:r>
            <a:r>
              <a:rPr lang="it-IT" sz="3600" b="1" i="0" u="none" strike="noStrike" baseline="0" dirty="0">
                <a:solidFill>
                  <a:srgbClr val="FF0000"/>
                </a:solidFill>
              </a:rPr>
              <a:t>G</a:t>
            </a:r>
            <a:r>
              <a:rPr lang="it-IT" sz="3600" b="1" i="0" u="none" strike="noStrike" baseline="0" dirty="0">
                <a:solidFill>
                  <a:srgbClr val="000000"/>
                </a:solidFill>
              </a:rPr>
              <a:t>ate </a:t>
            </a:r>
            <a:r>
              <a:rPr lang="it-IT" sz="3600" b="1" i="0" u="none" strike="noStrike" baseline="0" dirty="0">
                <a:solidFill>
                  <a:srgbClr val="FF0000"/>
                </a:solidFill>
              </a:rPr>
              <a:t>A</a:t>
            </a:r>
            <a:r>
              <a:rPr lang="it-IT" sz="3600" b="1" i="0" u="none" strike="noStrike" baseline="0" dirty="0">
                <a:solidFill>
                  <a:srgbClr val="000000"/>
                </a:solidFill>
              </a:rPr>
              <a:t>rray</a:t>
            </a:r>
            <a:endParaRPr lang="it-IT" sz="360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9AD82B7-E655-A5E1-AD07-63ECD0E7279A}"/>
              </a:ext>
            </a:extLst>
          </p:cNvPr>
          <p:cNvSpPr txBox="1"/>
          <p:nvPr/>
        </p:nvSpPr>
        <p:spPr>
          <a:xfrm>
            <a:off x="826618" y="2495634"/>
            <a:ext cx="915863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/>
              <a:t>Simple: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400" dirty="0" err="1"/>
              <a:t>Programmable</a:t>
            </a:r>
            <a:r>
              <a:rPr lang="it-IT" sz="2400" dirty="0"/>
              <a:t> </a:t>
            </a:r>
            <a:r>
              <a:rPr lang="it-IT" sz="2400" dirty="0" err="1"/>
              <a:t>Logic</a:t>
            </a:r>
            <a:r>
              <a:rPr lang="it-IT" sz="2400" dirty="0"/>
              <a:t> Devices</a:t>
            </a:r>
          </a:p>
          <a:p>
            <a:pPr lvl="1"/>
            <a:endParaRPr lang="it-IT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/>
              <a:t>More </a:t>
            </a:r>
            <a:r>
              <a:rPr lang="it-IT" sz="2400" dirty="0" err="1"/>
              <a:t>detailed</a:t>
            </a:r>
            <a:r>
              <a:rPr lang="it-IT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400" dirty="0" err="1"/>
              <a:t>Programmable</a:t>
            </a:r>
            <a:r>
              <a:rPr lang="it-IT" sz="2400" dirty="0"/>
              <a:t> </a:t>
            </a:r>
            <a:r>
              <a:rPr lang="it-IT" sz="2400" dirty="0" err="1"/>
              <a:t>Logic</a:t>
            </a:r>
            <a:r>
              <a:rPr lang="it-IT" sz="2400" dirty="0"/>
              <a:t> Devices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2400" dirty="0"/>
              <a:t>With </a:t>
            </a:r>
            <a:r>
              <a:rPr lang="it-IT" sz="2400" dirty="0" err="1"/>
              <a:t>lot</a:t>
            </a:r>
            <a:r>
              <a:rPr lang="it-IT" sz="2400" dirty="0"/>
              <a:t> of </a:t>
            </a:r>
            <a:r>
              <a:rPr lang="it-IT" sz="2400" dirty="0" err="1"/>
              <a:t>additional</a:t>
            </a:r>
            <a:r>
              <a:rPr lang="it-IT" sz="2400" dirty="0"/>
              <a:t> </a:t>
            </a:r>
            <a:r>
              <a:rPr lang="it-IT" sz="2400" dirty="0" err="1"/>
              <a:t>function-block</a:t>
            </a:r>
            <a:r>
              <a:rPr lang="it-IT" sz="2400" dirty="0"/>
              <a:t> (e.g. RAM, DSP)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2400" dirty="0" err="1"/>
              <a:t>Flexible</a:t>
            </a:r>
            <a:r>
              <a:rPr lang="it-IT" sz="2400" dirty="0"/>
              <a:t> </a:t>
            </a:r>
            <a:r>
              <a:rPr lang="it-IT" sz="2400" dirty="0" err="1"/>
              <a:t>configuration</a:t>
            </a:r>
            <a:endParaRPr lang="it-IT" sz="2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2400" dirty="0"/>
              <a:t>Can </a:t>
            </a:r>
            <a:r>
              <a:rPr lang="it-IT" sz="2400" dirty="0" err="1"/>
              <a:t>host</a:t>
            </a:r>
            <a:r>
              <a:rPr lang="it-IT" sz="2400" dirty="0"/>
              <a:t> </a:t>
            </a:r>
            <a:r>
              <a:rPr lang="it-IT" sz="2400" dirty="0" err="1"/>
              <a:t>microcontroller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124086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611DC0-C7B5-AA78-3852-DADD9A0DA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History of </a:t>
            </a:r>
            <a:r>
              <a:rPr lang="it-IT" dirty="0" err="1"/>
              <a:t>Programmable</a:t>
            </a:r>
            <a:r>
              <a:rPr lang="it-IT" dirty="0"/>
              <a:t> </a:t>
            </a:r>
            <a:r>
              <a:rPr lang="it-IT" dirty="0" err="1"/>
              <a:t>Logic</a:t>
            </a:r>
            <a:r>
              <a:rPr lang="it-IT" dirty="0"/>
              <a:t> Devices /1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6E4AA0-37AC-D7B6-B793-132D703E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79996B5-F2FC-3B0A-D1C0-E68C9C66D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92A4A74-11EE-2EDE-2291-7A93F9350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5</a:t>
            </a:fld>
            <a:endParaRPr lang="en-US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A21BBC7-7523-5ACB-879B-5CF5884ADEEA}"/>
              </a:ext>
            </a:extLst>
          </p:cNvPr>
          <p:cNvSpPr txBox="1"/>
          <p:nvPr/>
        </p:nvSpPr>
        <p:spPr>
          <a:xfrm>
            <a:off x="352704" y="1060992"/>
            <a:ext cx="7553554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sz="2000" b="1" i="0" u="none" strike="noStrike" baseline="0" dirty="0">
                <a:solidFill>
                  <a:srgbClr val="000000"/>
                </a:solidFill>
              </a:rPr>
              <a:t>1960s</a:t>
            </a:r>
            <a:r>
              <a:rPr lang="it-IT" sz="2000" b="1" dirty="0">
                <a:solidFill>
                  <a:srgbClr val="000000"/>
                </a:solidFill>
              </a:rPr>
              <a:t>: </a:t>
            </a:r>
            <a:r>
              <a:rPr lang="it-IT" sz="1800" b="0" i="0" u="none" strike="noStrike" baseline="0" dirty="0">
                <a:solidFill>
                  <a:srgbClr val="000000"/>
                </a:solidFill>
              </a:rPr>
              <a:t>Fuse </a:t>
            </a:r>
            <a:r>
              <a:rPr lang="it-IT" sz="1800" b="0" i="0" u="none" strike="noStrike" baseline="0" dirty="0" err="1">
                <a:solidFill>
                  <a:srgbClr val="000000"/>
                </a:solidFill>
              </a:rPr>
              <a:t>Configurable</a:t>
            </a:r>
            <a:r>
              <a:rPr lang="it-IT" sz="18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it-IT" sz="1800" b="0" i="0" u="none" strike="noStrike" baseline="0" dirty="0" err="1">
                <a:solidFill>
                  <a:srgbClr val="000000"/>
                </a:solidFill>
              </a:rPr>
              <a:t>Diode</a:t>
            </a:r>
            <a:r>
              <a:rPr lang="it-IT" sz="1800" b="0" i="0" u="none" strike="noStrike" baseline="0" dirty="0">
                <a:solidFill>
                  <a:srgbClr val="000000"/>
                </a:solidFill>
              </a:rPr>
              <a:t> Matrix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First form of programmable logic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One-Time Programmable (OTP)</a:t>
            </a:r>
            <a:endParaRPr lang="it-IT" b="0" i="0" u="none" strike="noStrike" baseline="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sz="2000" b="1" i="0" u="none" strike="noStrike" baseline="0" dirty="0">
                <a:solidFill>
                  <a:srgbClr val="000000"/>
                </a:solidFill>
              </a:rPr>
              <a:t>1971</a:t>
            </a:r>
            <a:r>
              <a:rPr lang="it-IT" sz="2000" b="1" dirty="0">
                <a:solidFill>
                  <a:srgbClr val="000000"/>
                </a:solidFill>
              </a:rPr>
              <a:t>: </a:t>
            </a:r>
            <a:r>
              <a:rPr lang="it-IT" sz="1800" b="0" i="0" u="none" strike="noStrike" baseline="0" dirty="0" err="1">
                <a:solidFill>
                  <a:srgbClr val="000000"/>
                </a:solidFill>
              </a:rPr>
              <a:t>Programmable</a:t>
            </a:r>
            <a:r>
              <a:rPr lang="it-IT" sz="1800" b="0" i="0" u="none" strike="noStrike" baseline="0" dirty="0">
                <a:solidFill>
                  <a:srgbClr val="000000"/>
                </a:solidFill>
              </a:rPr>
              <a:t> ROM (</a:t>
            </a:r>
            <a:r>
              <a:rPr lang="it-IT" sz="1800" b="1" i="0" u="none" strike="noStrike" baseline="0" dirty="0">
                <a:solidFill>
                  <a:srgbClr val="000000"/>
                </a:solidFill>
              </a:rPr>
              <a:t>PROM</a:t>
            </a:r>
            <a:r>
              <a:rPr lang="it-IT" sz="1800" b="0" i="0" u="none" strike="noStrike" baseline="0" dirty="0">
                <a:solidFill>
                  <a:srgbClr val="000000"/>
                </a:solidFill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Logic functions stored as truth tables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Still limited flexibility and efficiency</a:t>
            </a:r>
            <a:endParaRPr lang="it-IT" b="0" i="0" u="none" strike="noStrike" baseline="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PAL</a:t>
            </a:r>
            <a:r>
              <a:rPr lang="en-US" dirty="0"/>
              <a:t> (Programmable Array Logic):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Fixed AND/OR logic structure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Programmable interconnections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OTP technology</a:t>
            </a:r>
            <a:endParaRPr lang="it-IT" b="1" i="0" u="none" strike="noStrike" baseline="0" dirty="0">
              <a:solidFill>
                <a:srgbClr val="000000"/>
              </a:solidFill>
            </a:endParaRPr>
          </a:p>
        </p:txBody>
      </p:sp>
      <p:pic>
        <p:nvPicPr>
          <p:cNvPr id="2053" name="Picture 5" descr="Early 1970s Floppy Drive Boot ROM Card for PDP-11. This diode array ROM is  32 of 16-bit instructions. : r/electronics">
            <a:extLst>
              <a:ext uri="{FF2B5EF4-FFF2-40B4-BE49-F238E27FC236}">
                <a16:creationId xmlns:a16="http://schemas.microsoft.com/office/drawing/2014/main" id="{21ABB707-23A9-60E9-40EB-38130B8CE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1838" y="136525"/>
            <a:ext cx="3341221" cy="2780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FCCCAB-B4DF-4C27-707A-D1324A2EF07A}"/>
              </a:ext>
            </a:extLst>
          </p:cNvPr>
          <p:cNvCxnSpPr>
            <a:cxnSpLocks/>
          </p:cNvCxnSpPr>
          <p:nvPr/>
        </p:nvCxnSpPr>
        <p:spPr>
          <a:xfrm>
            <a:off x="4814047" y="1244056"/>
            <a:ext cx="3676648" cy="1576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5" name="Picture 7" descr="Intel EPROM programmer from 1971">
            <a:extLst>
              <a:ext uri="{FF2B5EF4-FFF2-40B4-BE49-F238E27FC236}">
                <a16:creationId xmlns:a16="http://schemas.microsoft.com/office/drawing/2014/main" id="{A1D080CE-A55D-CEF7-0835-27192B86E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0684" y="2998694"/>
            <a:ext cx="3043518" cy="3043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8C274A-175E-41B1-6109-C713090A038E}"/>
              </a:ext>
            </a:extLst>
          </p:cNvPr>
          <p:cNvSpPr txBox="1"/>
          <p:nvPr/>
        </p:nvSpPr>
        <p:spPr>
          <a:xfrm>
            <a:off x="7051489" y="3615537"/>
            <a:ext cx="4167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256 x 8-bit Static/Dynamic PROM</a:t>
            </a:r>
            <a:endParaRPr lang="en-US" dirty="0"/>
          </a:p>
        </p:txBody>
      </p:sp>
      <p:pic>
        <p:nvPicPr>
          <p:cNvPr id="2057" name="Picture 9">
            <a:extLst>
              <a:ext uri="{FF2B5EF4-FFF2-40B4-BE49-F238E27FC236}">
                <a16:creationId xmlns:a16="http://schemas.microsoft.com/office/drawing/2014/main" id="{97095A1D-2D5D-25C8-449F-906D1CD2B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869" y="3984869"/>
            <a:ext cx="2498165" cy="1873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3DD9F8D-5A9D-5F25-5864-7405A7402FDC}"/>
              </a:ext>
            </a:extLst>
          </p:cNvPr>
          <p:cNvSpPr/>
          <p:nvPr/>
        </p:nvSpPr>
        <p:spPr>
          <a:xfrm>
            <a:off x="6508375" y="2991071"/>
            <a:ext cx="5414683" cy="313182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FB9ABD0-5C5C-2FA4-6E0A-4CA093D43E85}"/>
              </a:ext>
            </a:extLst>
          </p:cNvPr>
          <p:cNvCxnSpPr>
            <a:cxnSpLocks/>
          </p:cNvCxnSpPr>
          <p:nvPr/>
        </p:nvCxnSpPr>
        <p:spPr>
          <a:xfrm>
            <a:off x="4408461" y="2109800"/>
            <a:ext cx="2243910" cy="64781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FB0F339-27FA-4EA0-26A4-208864493B14}"/>
              </a:ext>
            </a:extLst>
          </p:cNvPr>
          <p:cNvCxnSpPr>
            <a:cxnSpLocks/>
          </p:cNvCxnSpPr>
          <p:nvPr/>
        </p:nvCxnSpPr>
        <p:spPr>
          <a:xfrm>
            <a:off x="4038600" y="2982748"/>
            <a:ext cx="930529" cy="843879"/>
          </a:xfrm>
          <a:prstGeom prst="bentConnector3">
            <a:avLst>
              <a:gd name="adj1" fmla="val 10106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" descr="Programming Array Logic - GeeksforGeeks">
            <a:extLst>
              <a:ext uri="{FF2B5EF4-FFF2-40B4-BE49-F238E27FC236}">
                <a16:creationId xmlns:a16="http://schemas.microsoft.com/office/drawing/2014/main" id="{3049F080-6443-D0E6-1ED2-A8789C01E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131" y="3826627"/>
            <a:ext cx="3172249" cy="2581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8944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92CB6-B50E-E65E-E41F-9A4B886AD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History of </a:t>
            </a:r>
            <a:r>
              <a:rPr lang="it-IT" dirty="0" err="1"/>
              <a:t>Programmable</a:t>
            </a:r>
            <a:r>
              <a:rPr lang="it-IT" dirty="0"/>
              <a:t> </a:t>
            </a:r>
            <a:r>
              <a:rPr lang="it-IT" dirty="0" err="1"/>
              <a:t>Logic</a:t>
            </a:r>
            <a:r>
              <a:rPr lang="it-IT" dirty="0"/>
              <a:t> Devices /2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9AD037-90D6-4FB7-68AA-6EA4CB91F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18090-F576-6707-60D3-40D6E7E50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D8F9F7-8CB5-7387-0746-B5E979CAA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6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4EF36F0-47C4-A305-D9B6-B71486BC1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958" y="1247692"/>
            <a:ext cx="660698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1978: PLA (Programmable </a:t>
            </a:r>
            <a:r>
              <a:rPr lang="en-US" altLang="en-US" b="1" dirty="0">
                <a:latin typeface="Arial" panose="020B0604020202020204" pitchFamily="34" charset="0"/>
              </a:rPr>
              <a:t>Logic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Programmable AND plane, fixed OR plane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and cheaper than PLA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CPLD (Complex Programmable Logic Device)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PAL-like blocks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In-system programmable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Configuration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retained after power-off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0E700AF-A22C-C661-625A-444C9CAF0433}"/>
              </a:ext>
            </a:extLst>
          </p:cNvPr>
          <p:cNvCxnSpPr>
            <a:cxnSpLocks/>
          </p:cNvCxnSpPr>
          <p:nvPr/>
        </p:nvCxnSpPr>
        <p:spPr>
          <a:xfrm>
            <a:off x="4971863" y="1450646"/>
            <a:ext cx="1267572" cy="6837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7" name="Picture 5">
            <a:extLst>
              <a:ext uri="{FF2B5EF4-FFF2-40B4-BE49-F238E27FC236}">
                <a16:creationId xmlns:a16="http://schemas.microsoft.com/office/drawing/2014/main" id="{552243BC-3FE2-FEEE-59E1-A85A88CB8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509" y="843244"/>
            <a:ext cx="6616700" cy="231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8C421B0-455B-EE3A-F66D-E4603178E82A}"/>
              </a:ext>
            </a:extLst>
          </p:cNvPr>
          <p:cNvSpPr txBox="1"/>
          <p:nvPr/>
        </p:nvSpPr>
        <p:spPr>
          <a:xfrm>
            <a:off x="109958" y="4587878"/>
            <a:ext cx="1108710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dirty="0">
                <a:solidFill>
                  <a:schemeClr val="accent3"/>
                </a:solidFill>
                <a:effectLst/>
              </a:rPr>
              <a:t>Comparison with other Programmable Logic Devices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/>
                </a:solidFill>
              </a:rPr>
              <a:t>PLA has a programmable AND gate array and programmable OR gate array.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/>
                </a:solidFill>
              </a:rPr>
              <a:t>PAL has a programmable AND gate array but a fixed OR gate array.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/>
                </a:solidFill>
              </a:rPr>
              <a:t>ROM has a fixed AND gate array but programmable OR gate array.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32DBBF-E709-11A8-58F7-5F98741F8FA6}"/>
              </a:ext>
            </a:extLst>
          </p:cNvPr>
          <p:cNvSpPr txBox="1"/>
          <p:nvPr/>
        </p:nvSpPr>
        <p:spPr>
          <a:xfrm>
            <a:off x="2260600" y="3565735"/>
            <a:ext cx="9931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most noticeable difference between a large CPLD and a small FPGA is the presence of on-chip non-volatile memory in the CPLD, which allows CPLDs to be used for bootloader functions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D8C1EA9-76B8-CC45-9E5C-2311245B897E}"/>
              </a:ext>
            </a:extLst>
          </p:cNvPr>
          <p:cNvCxnSpPr>
            <a:cxnSpLocks/>
          </p:cNvCxnSpPr>
          <p:nvPr/>
        </p:nvCxnSpPr>
        <p:spPr>
          <a:xfrm>
            <a:off x="4742541" y="2763137"/>
            <a:ext cx="1140291" cy="66586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9" name="Picture 7">
            <a:extLst>
              <a:ext uri="{FF2B5EF4-FFF2-40B4-BE49-F238E27FC236}">
                <a16:creationId xmlns:a16="http://schemas.microsoft.com/office/drawing/2014/main" id="{FBD7B617-7CFF-24CC-B845-C8E7F07F9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273" y="4221785"/>
            <a:ext cx="2089180" cy="1696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009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4A779-BB53-8D46-9D97-5EF760B57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History of </a:t>
            </a:r>
            <a:r>
              <a:rPr lang="it-IT" dirty="0" err="1"/>
              <a:t>Programmable</a:t>
            </a:r>
            <a:r>
              <a:rPr lang="it-IT" dirty="0"/>
              <a:t> </a:t>
            </a:r>
            <a:r>
              <a:rPr lang="it-IT" dirty="0" err="1"/>
              <a:t>Logic</a:t>
            </a:r>
            <a:r>
              <a:rPr lang="it-IT" dirty="0"/>
              <a:t> Devices /3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965465-DD59-5D30-7AFA-C8D63367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2062F-7F71-FDDB-104D-15977C136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D24DB-DDB5-2B35-A04E-158A7C042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7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F2B75D2-2A42-D63B-7823-C4406F832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7" y="1665691"/>
            <a:ext cx="743174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1989: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First Field Programmable Gate Array (FPGA)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Configurable Logic Blocks (CLBs)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Programmable routing fabric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Massive parallelism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 to CPLDs: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Much higher logic density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SRAM-based configuration (loaded at startup)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Ideal for complex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9" name="Picture 3" descr="History and Milestones of the FPGA - HardwareBee">
            <a:extLst>
              <a:ext uri="{FF2B5EF4-FFF2-40B4-BE49-F238E27FC236}">
                <a16:creationId xmlns:a16="http://schemas.microsoft.com/office/drawing/2014/main" id="{1843F46A-7E13-855B-7BDE-27FB8778E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299" y="1665691"/>
            <a:ext cx="6076256" cy="2035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9A6A51B-2987-1DCA-3A30-8674E58880E5}"/>
              </a:ext>
            </a:extLst>
          </p:cNvPr>
          <p:cNvCxnSpPr>
            <a:cxnSpLocks/>
          </p:cNvCxnSpPr>
          <p:nvPr/>
        </p:nvCxnSpPr>
        <p:spPr>
          <a:xfrm>
            <a:off x="4550522" y="2060246"/>
            <a:ext cx="1312396" cy="33333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9145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0D09-9360-9E12-1935-0ED34C3F8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point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4D4AA3-2805-A55F-2A4D-F6833C987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1E8780-D153-5368-8F48-9762B7DB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DA955-28A5-56E5-673D-9E24662E6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8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C7ED668-B376-C3D3-0D2D-990B321E6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256" y="259528"/>
            <a:ext cx="4562551" cy="2618904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7A358963-0747-BA8E-D1EC-E536E90E9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256" y="2980032"/>
            <a:ext cx="4899873" cy="3376318"/>
          </a:xfrm>
          <a:prstGeom prst="rect">
            <a:avLst/>
          </a:prstGeom>
        </p:spPr>
      </p:pic>
      <p:pic>
        <p:nvPicPr>
          <p:cNvPr id="9" name="Immagine 8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B3CE9F12-88DE-4339-AF3F-9020F7F35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2289" y="880971"/>
            <a:ext cx="4085893" cy="3149600"/>
          </a:xfrm>
          <a:prstGeom prst="rect">
            <a:avLst/>
          </a:prstGeom>
        </p:spPr>
      </p:pic>
      <p:pic>
        <p:nvPicPr>
          <p:cNvPr id="11" name="Immagine 10" descr="Immagine che contiene testo, schermata, software, numero&#10;&#10;Il contenuto generato dall'IA potrebbe non essere corretto.">
            <a:extLst>
              <a:ext uri="{FF2B5EF4-FFF2-40B4-BE49-F238E27FC236}">
                <a16:creationId xmlns:a16="http://schemas.microsoft.com/office/drawing/2014/main" id="{B8BA5AFB-5A82-83EC-3C67-3A8DA9F4E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397" y="3120571"/>
            <a:ext cx="4484132" cy="3235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3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04AFF8-851A-B6DF-2D36-BA46A8D42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Fundamental</a:t>
            </a:r>
            <a:r>
              <a:rPr lang="it-IT" dirty="0"/>
              <a:t> FPGA </a:t>
            </a:r>
            <a:r>
              <a:rPr lang="it-IT" dirty="0" err="1"/>
              <a:t>components</a:t>
            </a: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320C7B5-C5AB-93C1-C9F0-6C657C422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D261925-B9EC-0A2D-529A-656E28B4F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D7E25EC-F8C8-787E-347D-A21A620E3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9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EB55FA5-A059-C04E-DC0B-38FD76010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205" y="1282183"/>
            <a:ext cx="9867569" cy="497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450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A20D61-CD95-5939-E774-B07020358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Programmable</a:t>
            </a:r>
            <a:r>
              <a:rPr lang="it-IT" dirty="0"/>
              <a:t> </a:t>
            </a:r>
            <a:r>
              <a:rPr lang="it-IT" dirty="0" err="1"/>
              <a:t>interconnections</a:t>
            </a:r>
            <a:r>
              <a:rPr lang="it-IT" dirty="0"/>
              <a:t> /1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0182287-9763-4657-1AC5-B1C662EEF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E488A53-65EF-8249-B0AD-BA849B827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CB56192-0F76-4859-C41B-41C95CBC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10</a:t>
            </a:fld>
            <a:endParaRPr lang="en-US"/>
          </a:p>
        </p:txBody>
      </p:sp>
      <p:pic>
        <p:nvPicPr>
          <p:cNvPr id="9" name="Immagine 8" descr="Immagine che contiene diagramma, linea, Piano, Disegno tecnico&#10;&#10;Il contenuto generato dall'IA potrebbe non essere corretto.">
            <a:extLst>
              <a:ext uri="{FF2B5EF4-FFF2-40B4-BE49-F238E27FC236}">
                <a16:creationId xmlns:a16="http://schemas.microsoft.com/office/drawing/2014/main" id="{FB5FA3D6-E6BF-AAD5-19DE-AEDFFAEA8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057" y="1185334"/>
            <a:ext cx="3013546" cy="2825199"/>
          </a:xfrm>
          <a:prstGeom prst="rect">
            <a:avLst/>
          </a:prstGeom>
        </p:spPr>
      </p:pic>
      <p:pic>
        <p:nvPicPr>
          <p:cNvPr id="11" name="Immagine 10" descr="Immagine che contiene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D7DD2366-295C-A904-4FD8-FA24AF990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28" y="978709"/>
            <a:ext cx="3760029" cy="3365719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FE84802-E14B-EDDB-E736-6E4529AD0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523" y="3298157"/>
            <a:ext cx="3689026" cy="280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421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EA67A4-6B07-BA1A-9A72-E76ABEB4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Programmable</a:t>
            </a:r>
            <a:r>
              <a:rPr lang="it-IT" dirty="0"/>
              <a:t> </a:t>
            </a:r>
            <a:r>
              <a:rPr lang="it-IT" dirty="0" err="1"/>
              <a:t>interconnections</a:t>
            </a:r>
            <a:r>
              <a:rPr lang="it-IT" dirty="0"/>
              <a:t> /2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FCE6FED-9F3C-5C17-4743-F3D53CBE4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4201C11-DDF7-C4A9-7ADC-7DB2ECDB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70CBD32-7702-6B96-26DA-74EBB7189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11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A4287D9-3080-1B87-9471-6D836EA8E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587" y="973317"/>
            <a:ext cx="9155680" cy="5383033"/>
          </a:xfrm>
          <a:prstGeom prst="rect">
            <a:avLst/>
          </a:prstGeom>
        </p:spPr>
      </p:pic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10A0714C-C029-2838-91C8-27F26A257C71}"/>
              </a:ext>
            </a:extLst>
          </p:cNvPr>
          <p:cNvSpPr/>
          <p:nvPr/>
        </p:nvSpPr>
        <p:spPr>
          <a:xfrm rot="9025519">
            <a:off x="5918514" y="1150699"/>
            <a:ext cx="1839656" cy="43439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99BEB40-C218-21F7-0208-68F72DBC9EFD}"/>
              </a:ext>
            </a:extLst>
          </p:cNvPr>
          <p:cNvSpPr txBox="1"/>
          <p:nvPr/>
        </p:nvSpPr>
        <p:spPr>
          <a:xfrm>
            <a:off x="7657106" y="659310"/>
            <a:ext cx="3538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 err="1"/>
              <a:t>Programmable</a:t>
            </a:r>
            <a:r>
              <a:rPr lang="it-IT" b="1" dirty="0"/>
              <a:t> Switch Matrix</a:t>
            </a:r>
          </a:p>
        </p:txBody>
      </p:sp>
    </p:spTree>
    <p:extLst>
      <p:ext uri="{BB962C8B-B14F-4D97-AF65-F5344CB8AC3E}">
        <p14:creationId xmlns:p14="http://schemas.microsoft.com/office/powerpoint/2010/main" val="3893758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0D6293-C92E-4F70-CA0F-28EB15B6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Look-up </a:t>
            </a:r>
            <a:r>
              <a:rPr lang="it-IT" dirty="0" err="1"/>
              <a:t>tables</a:t>
            </a:r>
            <a:r>
              <a:rPr lang="it-IT" dirty="0"/>
              <a:t> (LUT) /1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134EFD0-57D8-C273-610D-D250C087C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58805C0-37EF-CB5F-C682-5DE997A8B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1037A6D-E5C6-6608-564B-64C6D1222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12</a:t>
            </a:fld>
            <a:endParaRPr lang="en-US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3CAEE21-10B5-ADA9-E45F-B56B56D80363}"/>
              </a:ext>
            </a:extLst>
          </p:cNvPr>
          <p:cNvSpPr txBox="1"/>
          <p:nvPr/>
        </p:nvSpPr>
        <p:spPr>
          <a:xfrm>
            <a:off x="749411" y="1278374"/>
            <a:ext cx="6110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How to implement a 2-bit truth table (</a:t>
            </a:r>
            <a:r>
              <a:rPr lang="en-US" dirty="0" err="1"/>
              <a:t>boolean</a:t>
            </a:r>
            <a:r>
              <a:rPr lang="en-US" dirty="0"/>
              <a:t> logic) ?</a:t>
            </a:r>
            <a:endParaRPr lang="it-IT" dirty="0"/>
          </a:p>
        </p:txBody>
      </p:sp>
      <p:pic>
        <p:nvPicPr>
          <p:cNvPr id="9" name="Immagine 8" descr="Immagine che contiene diagramma, linea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EAF3568D-02C9-908F-92EB-5A2FD3BD2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411" y="2130571"/>
            <a:ext cx="10448014" cy="3231711"/>
          </a:xfrm>
          <a:prstGeom prst="rect">
            <a:avLst/>
          </a:prstGeom>
        </p:spPr>
      </p:pic>
      <p:sp>
        <p:nvSpPr>
          <p:cNvPr id="6" name="CasellaDiTesto 6">
            <a:extLst>
              <a:ext uri="{FF2B5EF4-FFF2-40B4-BE49-F238E27FC236}">
                <a16:creationId xmlns:a16="http://schemas.microsoft.com/office/drawing/2014/main" id="{B22B59C0-5219-8A38-001E-D8EB1EF1F3CF}"/>
              </a:ext>
            </a:extLst>
          </p:cNvPr>
          <p:cNvSpPr txBox="1"/>
          <p:nvPr/>
        </p:nvSpPr>
        <p:spPr>
          <a:xfrm>
            <a:off x="8693483" y="1899738"/>
            <a:ext cx="1155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XNOR</a:t>
            </a:r>
            <a:endParaRPr lang="it-IT" sz="2400" b="1" dirty="0"/>
          </a:p>
        </p:txBody>
      </p:sp>
    </p:spTree>
    <p:extLst>
      <p:ext uri="{BB962C8B-B14F-4D97-AF65-F5344CB8AC3E}">
        <p14:creationId xmlns:p14="http://schemas.microsoft.com/office/powerpoint/2010/main" val="2534449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9291AE-7A15-4045-7196-FE3E409C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Look-up </a:t>
            </a:r>
            <a:r>
              <a:rPr lang="it-IT" dirty="0" err="1"/>
              <a:t>tables</a:t>
            </a:r>
            <a:r>
              <a:rPr lang="it-IT" dirty="0"/>
              <a:t> (LUT) /2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90F363C-6DF9-E7F9-EBB3-F88191E83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894D146-858C-1F38-8CA9-FDCD32F32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4D389A6-07B4-30A8-41A8-7F9554DF9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13</a:t>
            </a:fld>
            <a:endParaRPr lang="en-US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A0D5F3D-3F4A-F96C-A341-360927DAD9D9}"/>
              </a:ext>
            </a:extLst>
          </p:cNvPr>
          <p:cNvSpPr txBox="1"/>
          <p:nvPr/>
        </p:nvSpPr>
        <p:spPr>
          <a:xfrm>
            <a:off x="669898" y="1185334"/>
            <a:ext cx="6110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FPGA solution: write the truth table into a RAM !</a:t>
            </a:r>
            <a:endParaRPr lang="it-IT" dirty="0"/>
          </a:p>
        </p:txBody>
      </p:sp>
      <p:pic>
        <p:nvPicPr>
          <p:cNvPr id="9" name="Immagine 8" descr="Immagine che contiene diagramma, Piano, linea, Disegno tecnico&#10;&#10;Il contenuto generato dall'IA potrebbe non essere corretto.">
            <a:extLst>
              <a:ext uri="{FF2B5EF4-FFF2-40B4-BE49-F238E27FC236}">
                <a16:creationId xmlns:a16="http://schemas.microsoft.com/office/drawing/2014/main" id="{91935CD4-2825-1FE1-D8C4-BA37E81D6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073" y="1930847"/>
            <a:ext cx="7240016" cy="404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685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D07556-F97C-F6E9-F984-CEC8D64BA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Look-up </a:t>
            </a:r>
            <a:r>
              <a:rPr lang="it-IT" dirty="0" err="1"/>
              <a:t>tables</a:t>
            </a:r>
            <a:r>
              <a:rPr lang="it-IT" dirty="0"/>
              <a:t> (LUT) /3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00778BB-6C4F-2D9E-F5CC-1F862B93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CCDD04C-8194-A249-C4FE-8DB9F8A17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9E69FA8-6512-B431-9516-8EA07D7C5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14</a:t>
            </a:fld>
            <a:endParaRPr lang="en-US"/>
          </a:p>
        </p:txBody>
      </p:sp>
      <p:pic>
        <p:nvPicPr>
          <p:cNvPr id="7" name="Immagine 6" descr="Immagine che contiene diagramma, Piano, Disegno tecnico, linea&#10;&#10;Il contenuto generato dall'IA potrebbe non essere corretto.">
            <a:extLst>
              <a:ext uri="{FF2B5EF4-FFF2-40B4-BE49-F238E27FC236}">
                <a16:creationId xmlns:a16="http://schemas.microsoft.com/office/drawing/2014/main" id="{EA7BDE09-DA37-FFE2-1E95-7FF75AF9D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29" y="934647"/>
            <a:ext cx="8282248" cy="550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97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E2DBEF-871F-0703-9480-4120C54E3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Logic</a:t>
            </a:r>
            <a:r>
              <a:rPr lang="it-IT" dirty="0"/>
              <a:t> Cell (LC)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767150A-E9A1-A7EF-376E-1C4917E19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2D02068-9BFF-0573-078B-D4DF4A755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9DB78F7-CD65-33D5-36DB-05593B91F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15</a:t>
            </a:fld>
            <a:endParaRPr lang="en-US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A0B4098-7794-7218-27B5-9117F30E88AC}"/>
              </a:ext>
            </a:extLst>
          </p:cNvPr>
          <p:cNvSpPr txBox="1"/>
          <p:nvPr/>
        </p:nvSpPr>
        <p:spPr>
          <a:xfrm>
            <a:off x="763325" y="1049572"/>
            <a:ext cx="97164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dirty="0" err="1"/>
              <a:t>Xilinx</a:t>
            </a:r>
            <a:r>
              <a:rPr lang="it-IT" sz="2400" dirty="0"/>
              <a:t> </a:t>
            </a:r>
            <a:r>
              <a:rPr lang="it-IT" sz="2400" dirty="0" err="1"/>
              <a:t>terminology</a:t>
            </a:r>
            <a:r>
              <a:rPr lang="it-IT" sz="2400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b="1" dirty="0" err="1"/>
              <a:t>Logic</a:t>
            </a:r>
            <a:r>
              <a:rPr lang="it-IT" sz="2400" b="1" dirty="0"/>
              <a:t> Cell (LC) </a:t>
            </a:r>
            <a:r>
              <a:rPr lang="it-IT" sz="2400" dirty="0"/>
              <a:t>= 1x LUT + 1 </a:t>
            </a:r>
            <a:r>
              <a:rPr lang="it-IT" sz="2400" dirty="0" err="1"/>
              <a:t>register</a:t>
            </a:r>
            <a:r>
              <a:rPr lang="it-IT" sz="2400" dirty="0"/>
              <a:t> (FF) + </a:t>
            </a:r>
            <a:r>
              <a:rPr lang="it-IT" sz="2400" dirty="0" err="1"/>
              <a:t>programmable</a:t>
            </a:r>
            <a:r>
              <a:rPr lang="it-IT" sz="2400" dirty="0"/>
              <a:t> MUX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b="1" dirty="0"/>
              <a:t>LUT</a:t>
            </a:r>
            <a:r>
              <a:rPr lang="it-IT" sz="2400" dirty="0"/>
              <a:t> </a:t>
            </a:r>
            <a:r>
              <a:rPr lang="it-IT" sz="2400" dirty="0" err="1"/>
              <a:t>implemented</a:t>
            </a:r>
            <a:r>
              <a:rPr lang="it-IT" sz="2400" dirty="0"/>
              <a:t> </a:t>
            </a:r>
            <a:r>
              <a:rPr lang="it-IT" sz="2400" dirty="0" err="1"/>
              <a:t>as</a:t>
            </a:r>
            <a:r>
              <a:rPr lang="it-IT" sz="2400" dirty="0"/>
              <a:t> 6-inputs, 64-bit 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/>
              <a:t>slice = 4x </a:t>
            </a:r>
            <a:r>
              <a:rPr lang="it-IT" sz="2400" dirty="0" err="1"/>
              <a:t>LUTs</a:t>
            </a:r>
            <a:r>
              <a:rPr lang="it-IT" sz="2400" dirty="0"/>
              <a:t> + 8 </a:t>
            </a:r>
            <a:r>
              <a:rPr lang="it-IT" sz="2400" dirty="0" err="1"/>
              <a:t>registers</a:t>
            </a:r>
            <a:r>
              <a:rPr lang="it-IT" sz="2400" dirty="0"/>
              <a:t> (</a:t>
            </a:r>
            <a:r>
              <a:rPr lang="it-IT" sz="2400" dirty="0" err="1"/>
              <a:t>FFs</a:t>
            </a:r>
            <a:r>
              <a:rPr lang="it-IT" sz="2400" dirty="0"/>
              <a:t>) + </a:t>
            </a:r>
            <a:r>
              <a:rPr lang="it-IT" sz="2400" dirty="0" err="1"/>
              <a:t>MUXs</a:t>
            </a:r>
            <a:r>
              <a:rPr lang="it-IT" sz="2400" dirty="0"/>
              <a:t> + fast-</a:t>
            </a:r>
            <a:r>
              <a:rPr lang="it-IT" sz="2400" dirty="0" err="1"/>
              <a:t>carry</a:t>
            </a:r>
            <a:r>
              <a:rPr lang="it-IT" sz="2400" dirty="0"/>
              <a:t> chain (CLA)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b="1" dirty="0" err="1"/>
              <a:t>Congurable</a:t>
            </a:r>
            <a:r>
              <a:rPr lang="it-IT" sz="2400" b="1" dirty="0"/>
              <a:t> </a:t>
            </a:r>
            <a:r>
              <a:rPr lang="it-IT" sz="2400" b="1" dirty="0" err="1"/>
              <a:t>Logic</a:t>
            </a:r>
            <a:r>
              <a:rPr lang="it-IT" sz="2400" b="1" dirty="0"/>
              <a:t> Block (CLB) </a:t>
            </a:r>
            <a:r>
              <a:rPr lang="it-IT" sz="2400" dirty="0"/>
              <a:t>= 2x slices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/>
              <a:t>Basic </a:t>
            </a:r>
            <a:r>
              <a:rPr lang="it-IT" sz="2400" dirty="0" err="1"/>
              <a:t>Element</a:t>
            </a:r>
            <a:r>
              <a:rPr lang="it-IT" sz="2400" dirty="0"/>
              <a:t> (BEL) = </a:t>
            </a:r>
            <a:r>
              <a:rPr lang="it-IT" sz="2400" dirty="0" err="1"/>
              <a:t>any</a:t>
            </a:r>
            <a:r>
              <a:rPr lang="it-IT" sz="2400" dirty="0"/>
              <a:t> device primitive</a:t>
            </a:r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DF738C90-B623-CC3B-885E-278FC9D86176}"/>
              </a:ext>
            </a:extLst>
          </p:cNvPr>
          <p:cNvSpPr/>
          <p:nvPr/>
        </p:nvSpPr>
        <p:spPr>
          <a:xfrm rot="10800000">
            <a:off x="6634132" y="1808050"/>
            <a:ext cx="1839656" cy="43439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A53C7F7-01B0-D79B-E4E6-67CEED02FA4B}"/>
              </a:ext>
            </a:extLst>
          </p:cNvPr>
          <p:cNvSpPr txBox="1"/>
          <p:nvPr/>
        </p:nvSpPr>
        <p:spPr>
          <a:xfrm>
            <a:off x="8487217" y="1834402"/>
            <a:ext cx="1194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WHY?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42FAC31-FA5B-FE69-4F08-B8DDFEDB166D}"/>
              </a:ext>
            </a:extLst>
          </p:cNvPr>
          <p:cNvSpPr txBox="1"/>
          <p:nvPr/>
        </p:nvSpPr>
        <p:spPr>
          <a:xfrm>
            <a:off x="8986962" y="2483470"/>
            <a:ext cx="2757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 </a:t>
            </a:r>
            <a:r>
              <a:rPr lang="it-IT" b="1" dirty="0" err="1"/>
              <a:t>carry-lookahead</a:t>
            </a:r>
            <a:r>
              <a:rPr lang="it-IT" b="1" dirty="0"/>
              <a:t> </a:t>
            </a:r>
            <a:r>
              <a:rPr lang="it-IT" b="1" dirty="0" err="1"/>
              <a:t>adder</a:t>
            </a:r>
            <a:r>
              <a:rPr lang="it-IT" b="1" dirty="0"/>
              <a:t> 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17607BF9-5CA7-3096-162A-4BB3A0B8B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747" y="3357896"/>
            <a:ext cx="7307628" cy="301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887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352A6A-75AE-D86B-054E-0CF89CFB4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Programmable</a:t>
            </a:r>
            <a:r>
              <a:rPr lang="it-IT" dirty="0"/>
              <a:t> I/O </a:t>
            </a:r>
            <a:r>
              <a:rPr lang="it-IT" dirty="0" err="1"/>
              <a:t>pads</a:t>
            </a: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CF5AAE8-AE4F-988E-3587-1AE3481C1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2E33C66-A9D2-0743-1D11-1860CCD16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B115AA3-C952-606D-EB4B-1612B21A3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16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19389F5-7C5F-B816-DE2C-19C3B43E1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067" y="914400"/>
            <a:ext cx="7153383" cy="5353860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80DAC9A1-8044-2BA4-68D5-F8BE362055BB}"/>
              </a:ext>
            </a:extLst>
          </p:cNvPr>
          <p:cNvSpPr txBox="1"/>
          <p:nvPr/>
        </p:nvSpPr>
        <p:spPr>
          <a:xfrm>
            <a:off x="3766798" y="906214"/>
            <a:ext cx="2784392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it-IT" sz="3600" b="1" dirty="0"/>
              <a:t>I/O BLOCK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635DC5E-95D0-29FA-9A9B-5C3835B9830E}"/>
              </a:ext>
            </a:extLst>
          </p:cNvPr>
          <p:cNvSpPr txBox="1"/>
          <p:nvPr/>
        </p:nvSpPr>
        <p:spPr>
          <a:xfrm>
            <a:off x="7709709" y="2711072"/>
            <a:ext cx="3311224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it-IT" sz="3600" b="1" dirty="0" err="1"/>
              <a:t>Programmable</a:t>
            </a:r>
            <a:endParaRPr lang="it-IT" sz="3600" b="1" dirty="0"/>
          </a:p>
          <a:p>
            <a:r>
              <a:rPr lang="it-IT" sz="3600" b="1" dirty="0" err="1"/>
              <a:t>pad</a:t>
            </a:r>
            <a:endParaRPr lang="it-IT" sz="3600" b="1" dirty="0"/>
          </a:p>
        </p:txBody>
      </p:sp>
    </p:spTree>
    <p:extLst>
      <p:ext uri="{BB962C8B-B14F-4D97-AF65-F5344CB8AC3E}">
        <p14:creationId xmlns:p14="http://schemas.microsoft.com/office/powerpoint/2010/main" val="1615887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5CC35-D1B5-0DDB-6E74-E4D1DECBB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Xilinx</a:t>
            </a:r>
            <a:r>
              <a:rPr lang="it-IT" dirty="0"/>
              <a:t> FPGA line-up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3AA82B-873C-BA3A-71EE-25CBED7CD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307709-A996-F678-8735-0D17F8460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C889A-6888-B49A-51DD-597956B14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17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CE6C928-24A7-6EA3-0C22-153193BE0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373" y="2274252"/>
            <a:ext cx="8881851" cy="3922818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F5105F99-9674-BA45-3DC3-1CB6DD22D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572" y="1008994"/>
            <a:ext cx="4883452" cy="126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613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6B7659-A31E-F7B1-E28F-DB7B930A3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Xilinx</a:t>
            </a:r>
            <a:r>
              <a:rPr lang="it-IT" dirty="0"/>
              <a:t> 7-series family </a:t>
            </a:r>
            <a:r>
              <a:rPr lang="it-IT" dirty="0" err="1"/>
              <a:t>comparison</a:t>
            </a: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F506406-9A84-5045-E005-7679390B4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6EC4E53-FE85-E6DB-6FD8-C5BE5B202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A1AA8B4-AE3A-6903-F562-0F06D1503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18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1F875A6-D814-C5C4-DC51-9F12AC884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832" y="2895845"/>
            <a:ext cx="8911771" cy="3460505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D14D6396-709F-ECEE-6F65-D281F1E538DE}"/>
              </a:ext>
            </a:extLst>
          </p:cNvPr>
          <p:cNvSpPr txBox="1"/>
          <p:nvPr/>
        </p:nvSpPr>
        <p:spPr>
          <a:xfrm>
            <a:off x="736598" y="864520"/>
            <a:ext cx="98443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Different size, number of programmable logic cells, I/O capabilities, performance and cost depending on the chosen device family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Spartan 7 : lowest-cost, lowest-power, good I/O performance, lowest number of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Artix</a:t>
            </a:r>
            <a:r>
              <a:rPr lang="en-US" dirty="0"/>
              <a:t> 7 : low-power, medium number of resources and I/O, good choice for DSP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Kintex</a:t>
            </a:r>
            <a:r>
              <a:rPr lang="en-US" dirty="0"/>
              <a:t> 7 : best compromise between number of resources, I/O, speed, power and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Virtex</a:t>
            </a:r>
            <a:r>
              <a:rPr lang="en-US" dirty="0"/>
              <a:t> 7 : highest system performance (resources, speed, I/O) but also largest power consumption and highest cost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06617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68023-AF5A-4E6D-4418-750D16400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“programming” a FPGA?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99AF3E-D271-0D0E-8F8F-AC42B117C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75BE5-0B0D-BB52-FF35-4693413BB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042B2F-FDB6-AF53-7B37-5DD5F6FC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19</a:t>
            </a:fld>
            <a:endParaRPr lang="en-US"/>
          </a:p>
        </p:txBody>
      </p:sp>
      <p:pic>
        <p:nvPicPr>
          <p:cNvPr id="9" name="Immagine 8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B9174145-3136-7353-E0C3-F5C189206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55" y="1353312"/>
            <a:ext cx="2355168" cy="4839004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A821C27-E737-89EC-9C2D-DA6E1EE3A8A7}"/>
              </a:ext>
            </a:extLst>
          </p:cNvPr>
          <p:cNvSpPr txBox="1"/>
          <p:nvPr/>
        </p:nvSpPr>
        <p:spPr>
          <a:xfrm>
            <a:off x="2627223" y="1505146"/>
            <a:ext cx="6115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Describe what the hardware should do.</a:t>
            </a:r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D5038A7-39CD-4AE8-E21D-DDE81F0AE082}"/>
              </a:ext>
            </a:extLst>
          </p:cNvPr>
          <p:cNvSpPr txBox="1"/>
          <p:nvPr/>
        </p:nvSpPr>
        <p:spPr>
          <a:xfrm>
            <a:off x="2627223" y="2194290"/>
            <a:ext cx="6115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Check </a:t>
            </a:r>
            <a:r>
              <a:rPr lang="it-IT" dirty="0" err="1"/>
              <a:t>Syntax</a:t>
            </a:r>
            <a:endParaRPr lang="it-IT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9FEFDBC-EDE1-6F1A-D419-36C4996016D8}"/>
              </a:ext>
            </a:extLst>
          </p:cNvPr>
          <p:cNvSpPr txBox="1"/>
          <p:nvPr/>
        </p:nvSpPr>
        <p:spPr>
          <a:xfrm>
            <a:off x="2627223" y="2801345"/>
            <a:ext cx="92927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“compiles” the design to transform HDL source into an architecture-specific design netlist. (connections)</a:t>
            </a:r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F01F1EE-981A-F12B-C64D-6C5724CB0336}"/>
              </a:ext>
            </a:extLst>
          </p:cNvPr>
          <p:cNvSpPr txBox="1"/>
          <p:nvPr/>
        </p:nvSpPr>
        <p:spPr>
          <a:xfrm>
            <a:off x="2627223" y="3449648"/>
            <a:ext cx="72859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Merges incoming netlists and constraints into a Xilinx design file</a:t>
            </a:r>
          </a:p>
          <a:p>
            <a:r>
              <a:rPr lang="en-US" dirty="0"/>
              <a:t>→ connections are merged with timing</a:t>
            </a:r>
            <a:endParaRPr lang="it-IT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2C78B00B-808E-EA7C-C7BC-6C292E7630A2}"/>
              </a:ext>
            </a:extLst>
          </p:cNvPr>
          <p:cNvSpPr txBox="1"/>
          <p:nvPr/>
        </p:nvSpPr>
        <p:spPr>
          <a:xfrm>
            <a:off x="2627223" y="4134849"/>
            <a:ext cx="6115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Fits the design into the available resources</a:t>
            </a:r>
          </a:p>
          <a:p>
            <a:r>
              <a:rPr lang="en-US" dirty="0"/>
              <a:t>→ tell the FPGA which gate structures should be used</a:t>
            </a:r>
            <a:endParaRPr lang="it-IT" dirty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D2F492B9-5A41-75F6-2D32-5E5BB26C18F7}"/>
              </a:ext>
            </a:extLst>
          </p:cNvPr>
          <p:cNvSpPr txBox="1"/>
          <p:nvPr/>
        </p:nvSpPr>
        <p:spPr>
          <a:xfrm>
            <a:off x="2627223" y="4840416"/>
            <a:ext cx="6115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Places and routes the design to the timing constrains</a:t>
            </a:r>
          </a:p>
          <a:p>
            <a:r>
              <a:rPr lang="en-US" dirty="0"/>
              <a:t>→ decide, which gate is used for which function</a:t>
            </a:r>
            <a:endParaRPr lang="it-IT" dirty="0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31F2BC71-CD52-AED7-199B-8DBFC691BA44}"/>
              </a:ext>
            </a:extLst>
          </p:cNvPr>
          <p:cNvSpPr txBox="1"/>
          <p:nvPr/>
        </p:nvSpPr>
        <p:spPr>
          <a:xfrm>
            <a:off x="2627223" y="5657753"/>
            <a:ext cx="6115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Write configuration into the FPGA or configuration memory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61610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CCDEA7-B6F7-56C8-A8A0-3974A1779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Xilinx</a:t>
            </a:r>
            <a:r>
              <a:rPr lang="it-IT" dirty="0"/>
              <a:t> XDC – </a:t>
            </a:r>
            <a:r>
              <a:rPr lang="it-IT" dirty="0" err="1"/>
              <a:t>Xilinx</a:t>
            </a:r>
            <a:r>
              <a:rPr lang="it-IT" dirty="0"/>
              <a:t> Design </a:t>
            </a:r>
            <a:r>
              <a:rPr lang="it-IT" dirty="0" err="1"/>
              <a:t>Constraints</a:t>
            </a:r>
            <a:r>
              <a:rPr lang="it-IT" dirty="0"/>
              <a:t> file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A1A01CB-72C4-0473-C34C-44AFA56E5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2145C1A-A01C-837A-FC89-AF772F5BA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8CA8636-E713-5C19-95DC-5A5C67BF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20</a:t>
            </a:fld>
            <a:endParaRPr lang="en-US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5BF80CB5-8E38-7777-DB00-3E394357A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113" y="2188865"/>
            <a:ext cx="10581774" cy="401814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CD9312DD-66DE-0796-6161-0315F5E0F37F}"/>
              </a:ext>
            </a:extLst>
          </p:cNvPr>
          <p:cNvSpPr txBox="1"/>
          <p:nvPr/>
        </p:nvSpPr>
        <p:spPr>
          <a:xfrm>
            <a:off x="359944" y="1040768"/>
            <a:ext cx="114721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XDC constraints are based on the standard </a:t>
            </a:r>
            <a:r>
              <a:rPr lang="en-US" b="1" dirty="0"/>
              <a:t>Synopsys Design Constraints (SDC) </a:t>
            </a:r>
            <a:r>
              <a:rPr lang="en-US" dirty="0"/>
              <a:t>format. SDC has been in use and evolving for more than 20 years, making it the most popular and proven format for describing design constraints.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52542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E30EED-FC8A-B5E1-0057-DFD5C33AB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Recommended</a:t>
            </a:r>
            <a:r>
              <a:rPr lang="it-IT" dirty="0"/>
              <a:t> </a:t>
            </a:r>
            <a:r>
              <a:rPr lang="it-IT" dirty="0" err="1"/>
              <a:t>Constraints</a:t>
            </a:r>
            <a:r>
              <a:rPr lang="it-IT" dirty="0"/>
              <a:t> </a:t>
            </a:r>
            <a:r>
              <a:rPr lang="it-IT" dirty="0" err="1"/>
              <a:t>Sequence</a:t>
            </a: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298D61C-206C-26CB-1D3C-94C409813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E800C4A-C1C1-931F-D845-17939E3FE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88ECC3F-F7EE-CD4F-91DA-FE066E523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21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C974F42-C453-4E39-B67D-3C2F69BDB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43" y="2131595"/>
            <a:ext cx="11277600" cy="134302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23417FA2-A4DD-A766-8B0C-F80EC4F23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80" y="3429000"/>
            <a:ext cx="11363325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44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C3C17A-39A1-8876-74EE-382786915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Digilent</a:t>
            </a:r>
            <a:r>
              <a:rPr lang="en-US" dirty="0"/>
              <a:t> Arty-A7 evaluation board</a:t>
            </a: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661094C-5380-6427-311B-B5837791F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20/01/2026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C40599E-B41F-40B2-9600-434B5C517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4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DE8DB63-D371-3537-149B-D2FD844D2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22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82107F5-7300-13BC-A24A-119807C3F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628" y="1334407"/>
            <a:ext cx="5101772" cy="5101772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56CF33CE-AB13-45B8-5E5F-563C72CC0FAE}"/>
              </a:ext>
            </a:extLst>
          </p:cNvPr>
          <p:cNvSpPr txBox="1"/>
          <p:nvPr/>
        </p:nvSpPr>
        <p:spPr>
          <a:xfrm>
            <a:off x="734786" y="1502620"/>
            <a:ext cx="61141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Device: </a:t>
            </a:r>
            <a:r>
              <a:rPr lang="it-IT" sz="2400" b="1" dirty="0" err="1"/>
              <a:t>Xilinx</a:t>
            </a:r>
            <a:r>
              <a:rPr lang="it-IT" sz="2400" b="1" dirty="0"/>
              <a:t> Artix-7</a:t>
            </a:r>
          </a:p>
        </p:txBody>
      </p:sp>
    </p:spTree>
    <p:extLst>
      <p:ext uri="{BB962C8B-B14F-4D97-AF65-F5344CB8AC3E}">
        <p14:creationId xmlns:p14="http://schemas.microsoft.com/office/powerpoint/2010/main" val="2561060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ADE55867-5D67-1E41-9192-86340F9BEBDB}" vid="{B520FB49-E285-CC43-B384-56C483B2EB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2145</TotalTime>
  <Words>1026</Words>
  <Application>Microsoft Macintosh PowerPoint</Application>
  <PresentationFormat>Widescreen</PresentationFormat>
  <Paragraphs>167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Lezione 4 Introduction to FPGAs and Xilinx devices</vt:lpstr>
      <vt:lpstr>Early times of digital electronics</vt:lpstr>
      <vt:lpstr>Why programmable ICs?</vt:lpstr>
      <vt:lpstr>What are FPGAs?</vt:lpstr>
      <vt:lpstr>History of Programmable Logic Devices /1</vt:lpstr>
      <vt:lpstr>History of Programmable Logic Devices /2</vt:lpstr>
      <vt:lpstr>History of Programmable Logic Devices /3</vt:lpstr>
      <vt:lpstr>Price point</vt:lpstr>
      <vt:lpstr>Fundamental FPGA components</vt:lpstr>
      <vt:lpstr>Programmable interconnections /1</vt:lpstr>
      <vt:lpstr>Programmable interconnections /2</vt:lpstr>
      <vt:lpstr>Look-up tables (LUT) /1</vt:lpstr>
      <vt:lpstr>Look-up tables (LUT) /2</vt:lpstr>
      <vt:lpstr>Look-up tables (LUT) /3</vt:lpstr>
      <vt:lpstr>Logic Cell (LC)</vt:lpstr>
      <vt:lpstr>Programmable I/O pads</vt:lpstr>
      <vt:lpstr>Xilinx FPGA line-up</vt:lpstr>
      <vt:lpstr>Xilinx 7-series family comparison</vt:lpstr>
      <vt:lpstr>How “programming” a FPGA?</vt:lpstr>
      <vt:lpstr>Xilinx XDC – Xilinx Design Constraints file</vt:lpstr>
      <vt:lpstr>Recommended Constraints Sequence</vt:lpstr>
      <vt:lpstr>Example: Digilent Arty-A7 evaluation 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Cristi Zugravel</dc:creator>
  <cp:lastModifiedBy>Stefan Cristi Zugravel</cp:lastModifiedBy>
  <cp:revision>24</cp:revision>
  <dcterms:created xsi:type="dcterms:W3CDTF">2025-12-19T16:19:35Z</dcterms:created>
  <dcterms:modified xsi:type="dcterms:W3CDTF">2026-01-14T20:08:20Z</dcterms:modified>
</cp:coreProperties>
</file>