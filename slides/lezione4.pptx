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63" r:id="rId4"/>
    <p:sldId id="259" r:id="rId5"/>
    <p:sldId id="264" r:id="rId6"/>
    <p:sldId id="284" r:id="rId7"/>
    <p:sldId id="285" r:id="rId8"/>
    <p:sldId id="261" r:id="rId9"/>
    <p:sldId id="265" r:id="rId10"/>
    <p:sldId id="276" r:id="rId11"/>
    <p:sldId id="277" r:id="rId12"/>
    <p:sldId id="266" r:id="rId13"/>
    <p:sldId id="278" r:id="rId14"/>
    <p:sldId id="279" r:id="rId15"/>
    <p:sldId id="280" r:id="rId16"/>
    <p:sldId id="281" r:id="rId17"/>
    <p:sldId id="260" r:id="rId18"/>
    <p:sldId id="283" r:id="rId19"/>
    <p:sldId id="286" r:id="rId20"/>
    <p:sldId id="262" r:id="rId21"/>
    <p:sldId id="268" r:id="rId22"/>
    <p:sldId id="287" r:id="rId23"/>
    <p:sldId id="289" r:id="rId24"/>
    <p:sldId id="288" r:id="rId25"/>
    <p:sldId id="269" r:id="rId26"/>
    <p:sldId id="26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 autoAdjust="0"/>
    <p:restoredTop sz="94545"/>
  </p:normalViewPr>
  <p:slideViewPr>
    <p:cSldViewPr snapToGrid="0">
      <p:cViewPr varScale="1">
        <p:scale>
          <a:sx n="142" d="100"/>
          <a:sy n="142" d="100"/>
        </p:scale>
        <p:origin x="1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noProof="0" dirty="0"/>
              <a:t>Lezione 4</a:t>
            </a:r>
            <a:br>
              <a:rPr lang="it-IT" noProof="0" dirty="0"/>
            </a:br>
            <a:r>
              <a:rPr lang="en-US" i="1"/>
              <a:t>Introduction to FPGAs and Xilinx devices</a:t>
            </a:r>
            <a:endParaRPr lang="it-IT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dirty="0"/>
              <a:t>20</a:t>
            </a:r>
            <a:r>
              <a:rPr lang="it-IT" noProof="0" dirty="0"/>
              <a:t>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times of digital electronics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8239E4-7A86-095F-B5E2-F222E5AC9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384" y="1008353"/>
            <a:ext cx="5721202" cy="4406329"/>
          </a:xfrm>
          <a:prstGeom prst="rect">
            <a:avLst/>
          </a:prstGeom>
        </p:spPr>
      </p:pic>
      <p:pic>
        <p:nvPicPr>
          <p:cNvPr id="6" name="Immagine 6">
            <a:extLst>
              <a:ext uri="{FF2B5EF4-FFF2-40B4-BE49-F238E27FC236}">
                <a16:creationId xmlns:a16="http://schemas.microsoft.com/office/drawing/2014/main" id="{2599E5F0-5183-0B92-5213-AA76A4245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4" y="1008353"/>
            <a:ext cx="6303792" cy="440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4A1708-C489-83B5-CB5E-1D0CDDD42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Why</a:t>
            </a:r>
            <a:r>
              <a:rPr lang="it-IT" dirty="0"/>
              <a:t>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ICs</a:t>
            </a:r>
            <a:r>
              <a:rPr lang="it-IT" dirty="0"/>
              <a:t>?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9B32DC3-3D15-CE07-5144-458A4AB4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DC62C44-CD6F-911C-E1F8-0296A768F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C98A8A4-0D82-E2F3-4864-0650B9107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A228A20-9B05-2ACD-203D-079B101EB5F8}"/>
              </a:ext>
            </a:extLst>
          </p:cNvPr>
          <p:cNvSpPr txBox="1"/>
          <p:nvPr/>
        </p:nvSpPr>
        <p:spPr>
          <a:xfrm>
            <a:off x="458849" y="1251534"/>
            <a:ext cx="986089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Producing a Chip costs much more than </a:t>
            </a:r>
            <a:r>
              <a:rPr lang="it-IT" sz="2400" b="0" i="0" u="none" strike="noStrike" baseline="0" dirty="0" err="1"/>
              <a:t>producing</a:t>
            </a:r>
            <a:r>
              <a:rPr lang="it-IT" sz="2400" b="0" i="0" u="none" strike="noStrike" baseline="0" dirty="0"/>
              <a:t> a PCB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Using one Chip on many PCBs increases Number of Chips and reduces Costs per Chip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If a Chip is programmable, it can be used on many PCBs in different situations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Producing one wafer costs ~ 10k€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Not included manpower to design wafer &amp; </a:t>
            </a:r>
            <a:r>
              <a:rPr lang="it-IT" sz="2400" b="0" i="0" u="none" strike="noStrike" baseline="0" dirty="0"/>
              <a:t>packaging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Saving space on a PCB</a:t>
            </a:r>
            <a:endParaRPr lang="it-IT" sz="2400" dirty="0"/>
          </a:p>
        </p:txBody>
      </p:sp>
      <p:pic>
        <p:nvPicPr>
          <p:cNvPr id="1026" name="Picture 2" descr="Wafer di silicio/Wafer Completo di Chip / Wafer di Silicio Monocristallino  Wafer 4 Pollici 6 Pollici 8 Pollici 12 Pollici Del Silicone Circuito chip  IC PCB Board| Alibaba.com">
            <a:extLst>
              <a:ext uri="{FF2B5EF4-FFF2-40B4-BE49-F238E27FC236}">
                <a16:creationId xmlns:a16="http://schemas.microsoft.com/office/drawing/2014/main" id="{DBFF3418-66C2-44B1-1FF3-5AC2B451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865" y="2961612"/>
            <a:ext cx="3175747" cy="20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is a Wafer? - Component By Özdisan">
            <a:extLst>
              <a:ext uri="{FF2B5EF4-FFF2-40B4-BE49-F238E27FC236}">
                <a16:creationId xmlns:a16="http://schemas.microsoft.com/office/drawing/2014/main" id="{F4A55D64-3B19-0297-AAF5-56BCAD8704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" t="32230" r="1458" b="10586"/>
          <a:stretch>
            <a:fillRect/>
          </a:stretch>
        </p:blipFill>
        <p:spPr bwMode="auto">
          <a:xfrm>
            <a:off x="1272986" y="4527989"/>
            <a:ext cx="6069110" cy="1616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451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What</a:t>
            </a:r>
            <a:r>
              <a:rPr lang="it-IT" dirty="0"/>
              <a:t> are </a:t>
            </a:r>
            <a:r>
              <a:rPr lang="it-IT" dirty="0" err="1"/>
              <a:t>FPGAs</a:t>
            </a:r>
            <a:r>
              <a:rPr lang="it-IT" dirty="0"/>
              <a:t>?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15BE231-2D53-3CC2-E74A-83366F4E2469}"/>
              </a:ext>
            </a:extLst>
          </p:cNvPr>
          <p:cNvSpPr txBox="1"/>
          <p:nvPr/>
        </p:nvSpPr>
        <p:spPr>
          <a:xfrm>
            <a:off x="2244545" y="1271059"/>
            <a:ext cx="73091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 i="0" u="none" strike="noStrike" baseline="0" dirty="0">
                <a:solidFill>
                  <a:srgbClr val="FF0000"/>
                </a:solidFill>
              </a:rPr>
              <a:t>F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ield </a:t>
            </a:r>
            <a:r>
              <a:rPr lang="it-IT" sz="3600" b="1" i="0" u="none" strike="noStrike" baseline="0" dirty="0" err="1">
                <a:solidFill>
                  <a:srgbClr val="FF0000"/>
                </a:solidFill>
              </a:rPr>
              <a:t>P</a:t>
            </a:r>
            <a:r>
              <a:rPr lang="it-IT" sz="3600" b="1" i="0" u="none" strike="noStrike" baseline="0" dirty="0" err="1">
                <a:solidFill>
                  <a:srgbClr val="000000"/>
                </a:solidFill>
              </a:rPr>
              <a:t>rogrammable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3600" b="1" i="0" u="none" strike="noStrike" baseline="0" dirty="0">
                <a:solidFill>
                  <a:srgbClr val="FF0000"/>
                </a:solidFill>
              </a:rPr>
              <a:t>G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ate </a:t>
            </a:r>
            <a:r>
              <a:rPr lang="it-IT" sz="3600" b="1" i="0" u="none" strike="noStrike" baseline="0" dirty="0">
                <a:solidFill>
                  <a:srgbClr val="FF0000"/>
                </a:solidFill>
              </a:rPr>
              <a:t>A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rray</a:t>
            </a:r>
            <a:endParaRPr lang="it-IT" sz="360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9AD82B7-E655-A5E1-AD07-63ECD0E7279A}"/>
              </a:ext>
            </a:extLst>
          </p:cNvPr>
          <p:cNvSpPr txBox="1"/>
          <p:nvPr/>
        </p:nvSpPr>
        <p:spPr>
          <a:xfrm>
            <a:off x="826618" y="2495634"/>
            <a:ext cx="915863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Simple: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Programmable</a:t>
            </a:r>
            <a:r>
              <a:rPr lang="it-IT" sz="2400" dirty="0"/>
              <a:t> </a:t>
            </a:r>
            <a:r>
              <a:rPr lang="it-IT" sz="2400" dirty="0" err="1"/>
              <a:t>Logic</a:t>
            </a:r>
            <a:r>
              <a:rPr lang="it-IT" sz="2400" dirty="0"/>
              <a:t> Devices</a:t>
            </a:r>
          </a:p>
          <a:p>
            <a:pPr lvl="1"/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More </a:t>
            </a:r>
            <a:r>
              <a:rPr lang="it-IT" sz="2400" dirty="0" err="1"/>
              <a:t>detailed</a:t>
            </a:r>
            <a:r>
              <a:rPr lang="it-IT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Programmable</a:t>
            </a:r>
            <a:r>
              <a:rPr lang="it-IT" sz="2400" dirty="0"/>
              <a:t> </a:t>
            </a:r>
            <a:r>
              <a:rPr lang="it-IT" sz="2400" dirty="0" err="1"/>
              <a:t>Logic</a:t>
            </a:r>
            <a:r>
              <a:rPr lang="it-IT" sz="2400" dirty="0"/>
              <a:t> Devices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/>
              <a:t>With </a:t>
            </a:r>
            <a:r>
              <a:rPr lang="it-IT" sz="2400" dirty="0" err="1"/>
              <a:t>lot</a:t>
            </a:r>
            <a:r>
              <a:rPr lang="it-IT" sz="2400" dirty="0"/>
              <a:t> of </a:t>
            </a:r>
            <a:r>
              <a:rPr lang="it-IT" sz="2400" dirty="0" err="1"/>
              <a:t>additional</a:t>
            </a:r>
            <a:r>
              <a:rPr lang="it-IT" sz="2400" dirty="0"/>
              <a:t> </a:t>
            </a:r>
            <a:r>
              <a:rPr lang="it-IT" sz="2400" dirty="0" err="1"/>
              <a:t>function-block</a:t>
            </a:r>
            <a:r>
              <a:rPr lang="it-IT" sz="2400" dirty="0"/>
              <a:t> (e.g. RAM, DSP)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Flexible</a:t>
            </a:r>
            <a:r>
              <a:rPr lang="it-IT" sz="2400" dirty="0"/>
              <a:t> </a:t>
            </a:r>
            <a:r>
              <a:rPr lang="it-IT" sz="2400" dirty="0" err="1"/>
              <a:t>configuration</a:t>
            </a:r>
            <a:endParaRPr lang="it-IT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/>
              <a:t>Can </a:t>
            </a:r>
            <a:r>
              <a:rPr lang="it-IT" sz="2400" dirty="0" err="1"/>
              <a:t>host</a:t>
            </a:r>
            <a:r>
              <a:rPr lang="it-IT" sz="2400" dirty="0"/>
              <a:t> </a:t>
            </a:r>
            <a:r>
              <a:rPr lang="it-IT" sz="2400" dirty="0" err="1"/>
              <a:t>microcontroller</a:t>
            </a: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611DC0-C7B5-AA78-3852-DADD9A0D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History of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Logic</a:t>
            </a:r>
            <a:r>
              <a:rPr lang="it-IT" dirty="0"/>
              <a:t> Devices /1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36E4AA0-37AC-D7B6-B793-132D703E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79996B5-F2FC-3B0A-D1C0-E68C9C66D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92A4A74-11EE-2EDE-2291-7A93F9350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A21BBC7-7523-5ACB-879B-5CF5884ADEEA}"/>
              </a:ext>
            </a:extLst>
          </p:cNvPr>
          <p:cNvSpPr txBox="1"/>
          <p:nvPr/>
        </p:nvSpPr>
        <p:spPr>
          <a:xfrm>
            <a:off x="352704" y="1060992"/>
            <a:ext cx="7553554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sz="2000" b="1" i="0" u="none" strike="noStrike" baseline="0" dirty="0">
                <a:solidFill>
                  <a:srgbClr val="000000"/>
                </a:solidFill>
              </a:rPr>
              <a:t>1960s</a:t>
            </a:r>
            <a:r>
              <a:rPr lang="it-IT" sz="2000" b="1" dirty="0">
                <a:solidFill>
                  <a:srgbClr val="000000"/>
                </a:solidFill>
              </a:rPr>
              <a:t>: 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Fuse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Configurable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Diode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Matrix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First form of programmable logic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One-Time Programmable (OTP)</a:t>
            </a:r>
            <a:endParaRPr lang="it-IT" b="0" i="0" u="none" strike="noStrike" baseline="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sz="2000" b="1" i="0" u="none" strike="noStrike" baseline="0" dirty="0">
                <a:solidFill>
                  <a:srgbClr val="000000"/>
                </a:solidFill>
              </a:rPr>
              <a:t>1971</a:t>
            </a:r>
            <a:r>
              <a:rPr lang="it-IT" sz="2000" b="1" dirty="0">
                <a:solidFill>
                  <a:srgbClr val="000000"/>
                </a:solidFill>
              </a:rPr>
              <a:t>: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Programmable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ROM (</a:t>
            </a:r>
            <a:r>
              <a:rPr lang="it-IT" sz="1800" b="1" i="0" u="none" strike="noStrike" baseline="0" dirty="0">
                <a:solidFill>
                  <a:srgbClr val="000000"/>
                </a:solidFill>
              </a:rPr>
              <a:t>PROM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Logic functions stored as truth tables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Still limited flexibility and efficiency</a:t>
            </a:r>
            <a:endParaRPr lang="it-IT" b="0" i="0" u="none" strike="noStrike" baseline="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PAL</a:t>
            </a:r>
            <a:r>
              <a:rPr lang="en-US" dirty="0"/>
              <a:t> (Programmable Array Logic):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Fixed AND/OR logic structure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Programmable interconnections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OTP technology</a:t>
            </a:r>
            <a:endParaRPr lang="it-IT" b="1" i="0" u="none" strike="noStrike" baseline="0" dirty="0">
              <a:solidFill>
                <a:srgbClr val="000000"/>
              </a:solidFill>
            </a:endParaRPr>
          </a:p>
        </p:txBody>
      </p:sp>
      <p:pic>
        <p:nvPicPr>
          <p:cNvPr id="2053" name="Picture 5" descr="Early 1970s Floppy Drive Boot ROM Card for PDP-11. This diode array ROM is  32 of 16-bit instructions. : r/electronics">
            <a:extLst>
              <a:ext uri="{FF2B5EF4-FFF2-40B4-BE49-F238E27FC236}">
                <a16:creationId xmlns:a16="http://schemas.microsoft.com/office/drawing/2014/main" id="{21ABB707-23A9-60E9-40EB-38130B8CE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1838" y="136525"/>
            <a:ext cx="3341221" cy="278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FCCCAB-B4DF-4C27-707A-D1324A2EF07A}"/>
              </a:ext>
            </a:extLst>
          </p:cNvPr>
          <p:cNvCxnSpPr>
            <a:cxnSpLocks/>
          </p:cNvCxnSpPr>
          <p:nvPr/>
        </p:nvCxnSpPr>
        <p:spPr>
          <a:xfrm>
            <a:off x="4814047" y="1244056"/>
            <a:ext cx="3676648" cy="1576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55" name="Picture 7" descr="Intel EPROM programmer from 1971">
            <a:extLst>
              <a:ext uri="{FF2B5EF4-FFF2-40B4-BE49-F238E27FC236}">
                <a16:creationId xmlns:a16="http://schemas.microsoft.com/office/drawing/2014/main" id="{A1D080CE-A55D-CEF7-0835-27192B86E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0684" y="2998694"/>
            <a:ext cx="3043518" cy="3043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8C274A-175E-41B1-6109-C713090A038E}"/>
              </a:ext>
            </a:extLst>
          </p:cNvPr>
          <p:cNvSpPr txBox="1"/>
          <p:nvPr/>
        </p:nvSpPr>
        <p:spPr>
          <a:xfrm>
            <a:off x="7051489" y="3615537"/>
            <a:ext cx="4167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256 x 8-bit Static/Dynamic PROM</a:t>
            </a:r>
            <a:endParaRPr lang="en-US" dirty="0"/>
          </a:p>
        </p:txBody>
      </p:sp>
      <p:pic>
        <p:nvPicPr>
          <p:cNvPr id="2057" name="Picture 9">
            <a:extLst>
              <a:ext uri="{FF2B5EF4-FFF2-40B4-BE49-F238E27FC236}">
                <a16:creationId xmlns:a16="http://schemas.microsoft.com/office/drawing/2014/main" id="{97095A1D-2D5D-25C8-449F-906D1CD2B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6869" y="3984869"/>
            <a:ext cx="2498165" cy="1873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3DD9F8D-5A9D-5F25-5864-7405A7402FDC}"/>
              </a:ext>
            </a:extLst>
          </p:cNvPr>
          <p:cNvSpPr/>
          <p:nvPr/>
        </p:nvSpPr>
        <p:spPr>
          <a:xfrm>
            <a:off x="6508375" y="2991071"/>
            <a:ext cx="5414683" cy="31318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B9ABD0-5C5C-2FA4-6E0A-4CA093D43E85}"/>
              </a:ext>
            </a:extLst>
          </p:cNvPr>
          <p:cNvCxnSpPr>
            <a:cxnSpLocks/>
          </p:cNvCxnSpPr>
          <p:nvPr/>
        </p:nvCxnSpPr>
        <p:spPr>
          <a:xfrm>
            <a:off x="4408461" y="2109800"/>
            <a:ext cx="2243910" cy="64781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FB0F339-27FA-4EA0-26A4-208864493B14}"/>
              </a:ext>
            </a:extLst>
          </p:cNvPr>
          <p:cNvCxnSpPr>
            <a:cxnSpLocks/>
          </p:cNvCxnSpPr>
          <p:nvPr/>
        </p:nvCxnSpPr>
        <p:spPr>
          <a:xfrm>
            <a:off x="4038600" y="2982748"/>
            <a:ext cx="930529" cy="843879"/>
          </a:xfrm>
          <a:prstGeom prst="bentConnector3">
            <a:avLst>
              <a:gd name="adj1" fmla="val 10106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3" descr="Programming Array Logic - GeeksforGeeks">
            <a:extLst>
              <a:ext uri="{FF2B5EF4-FFF2-40B4-BE49-F238E27FC236}">
                <a16:creationId xmlns:a16="http://schemas.microsoft.com/office/drawing/2014/main" id="{3049F080-6443-D0E6-1ED2-A8789C01E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131" y="3826627"/>
            <a:ext cx="3172249" cy="2581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8944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92CB6-B50E-E65E-E41F-9A4B886AD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History of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Logic</a:t>
            </a:r>
            <a:r>
              <a:rPr lang="it-IT" dirty="0"/>
              <a:t> Devices /2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AD037-90D6-4FB7-68AA-6EA4CB91F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18090-F576-6707-60D3-40D6E7E5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D8F9F7-8CB5-7387-0746-B5E979CA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4EF36F0-47C4-A305-D9B6-B71486BC1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958" y="1386191"/>
            <a:ext cx="660698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1978: PLA (Programmable </a:t>
            </a:r>
            <a:r>
              <a:rPr lang="en-US" altLang="en-US" b="1" dirty="0">
                <a:latin typeface="Arial" panose="020B0604020202020204" pitchFamily="34" charset="0"/>
              </a:rPr>
              <a:t>Logic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Array)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Programmable AND plane and OR plane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CPLD (Complex Programmable Logic Device)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PAL-like blocks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In-system programmable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Configuration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retained after power-off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0E700AF-A22C-C661-625A-444C9CAF0433}"/>
              </a:ext>
            </a:extLst>
          </p:cNvPr>
          <p:cNvCxnSpPr>
            <a:cxnSpLocks/>
          </p:cNvCxnSpPr>
          <p:nvPr/>
        </p:nvCxnSpPr>
        <p:spPr>
          <a:xfrm>
            <a:off x="4971863" y="1450646"/>
            <a:ext cx="1267572" cy="6837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7" name="Picture 5">
            <a:extLst>
              <a:ext uri="{FF2B5EF4-FFF2-40B4-BE49-F238E27FC236}">
                <a16:creationId xmlns:a16="http://schemas.microsoft.com/office/drawing/2014/main" id="{552243BC-3FE2-FEEE-59E1-A85A88CB8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3509" y="843244"/>
            <a:ext cx="6616700" cy="2311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8C421B0-455B-EE3A-F66D-E4603178E82A}"/>
              </a:ext>
            </a:extLst>
          </p:cNvPr>
          <p:cNvSpPr txBox="1"/>
          <p:nvPr/>
        </p:nvSpPr>
        <p:spPr>
          <a:xfrm>
            <a:off x="109958" y="4587878"/>
            <a:ext cx="1108710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1" dirty="0">
                <a:solidFill>
                  <a:schemeClr val="accent3"/>
                </a:solidFill>
                <a:effectLst/>
              </a:rPr>
              <a:t>Comparison with other Programmable Logic Devices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3"/>
                </a:solidFill>
              </a:rPr>
              <a:t>PLA has a programmable AND gate array and programmable OR gate array.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3"/>
                </a:solidFill>
              </a:rPr>
              <a:t>PAL has a programmable AND gate array but a fixed OR gate array.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3"/>
                </a:solidFill>
              </a:rPr>
              <a:t>ROM has a fixed AND gate array but programmable OR gate array.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32DBBF-E709-11A8-58F7-5F98741F8FA6}"/>
              </a:ext>
            </a:extLst>
          </p:cNvPr>
          <p:cNvSpPr txBox="1"/>
          <p:nvPr/>
        </p:nvSpPr>
        <p:spPr>
          <a:xfrm>
            <a:off x="2260600" y="3565735"/>
            <a:ext cx="993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most noticeable difference between a large CPLD and a small FPGA is the presence of on-chip non-volatile memory in the CPLD, which allows CPLDs to be used for bootloader functions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D8C1EA9-76B8-CC45-9E5C-2311245B897E}"/>
              </a:ext>
            </a:extLst>
          </p:cNvPr>
          <p:cNvCxnSpPr>
            <a:cxnSpLocks/>
          </p:cNvCxnSpPr>
          <p:nvPr/>
        </p:nvCxnSpPr>
        <p:spPr>
          <a:xfrm>
            <a:off x="4971863" y="2402541"/>
            <a:ext cx="910969" cy="102645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9" name="Picture 7">
            <a:extLst>
              <a:ext uri="{FF2B5EF4-FFF2-40B4-BE49-F238E27FC236}">
                <a16:creationId xmlns:a16="http://schemas.microsoft.com/office/drawing/2014/main" id="{FBD7B617-7CFF-24CC-B845-C8E7F07F9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7273" y="4221785"/>
            <a:ext cx="2089180" cy="169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009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4A779-BB53-8D46-9D97-5EF760B57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History of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Logic</a:t>
            </a:r>
            <a:r>
              <a:rPr lang="it-IT" dirty="0"/>
              <a:t> Devices /3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965465-DD59-5D30-7AFA-C8D63367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32062F-7F71-FDDB-104D-15977C136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1D24DB-DDB5-2B35-A04E-158A7C042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F2B75D2-2A42-D63B-7823-C4406F832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397" y="1665691"/>
            <a:ext cx="743174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1989: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First Field Programmable Gate Array (FPGA)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Configurable Logic Blocks (CLBs)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Programmable routing fabric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Massive parallelism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Compared to CPLDs: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Much higher logic density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SRAM-based configuration (loaded at startup)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Ideal for complex systems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099" name="Picture 3" descr="History and Milestones of the FPGA - HardwareBee">
            <a:extLst>
              <a:ext uri="{FF2B5EF4-FFF2-40B4-BE49-F238E27FC236}">
                <a16:creationId xmlns:a16="http://schemas.microsoft.com/office/drawing/2014/main" id="{1843F46A-7E13-855B-7BDE-27FB8778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3299" y="1665691"/>
            <a:ext cx="6076256" cy="2035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A6A51B-2987-1DCA-3A30-8674E58880E5}"/>
              </a:ext>
            </a:extLst>
          </p:cNvPr>
          <p:cNvCxnSpPr>
            <a:cxnSpLocks/>
          </p:cNvCxnSpPr>
          <p:nvPr/>
        </p:nvCxnSpPr>
        <p:spPr>
          <a:xfrm>
            <a:off x="4550522" y="2060246"/>
            <a:ext cx="1312396" cy="33333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914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Price point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C7ED668-B376-C3D3-0D2D-990B321E6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256" y="259528"/>
            <a:ext cx="4562551" cy="2618904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7A358963-0747-BA8E-D1EC-E536E90E9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256" y="2980032"/>
            <a:ext cx="4899873" cy="3376318"/>
          </a:xfrm>
          <a:prstGeom prst="rect">
            <a:avLst/>
          </a:prstGeom>
        </p:spPr>
      </p:pic>
      <p:pic>
        <p:nvPicPr>
          <p:cNvPr id="9" name="Immagine 8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3CE9F12-88DE-4339-AF3F-9020F7F35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289" y="880971"/>
            <a:ext cx="4085893" cy="3149600"/>
          </a:xfrm>
          <a:prstGeom prst="rect">
            <a:avLst/>
          </a:prstGeom>
        </p:spPr>
      </p:pic>
      <p:pic>
        <p:nvPicPr>
          <p:cNvPr id="11" name="Immagine 10" descr="Immagine che contiene testo, schermata, software, numero&#10;&#10;Il contenuto generato dall'IA potrebbe non essere corretto.">
            <a:extLst>
              <a:ext uri="{FF2B5EF4-FFF2-40B4-BE49-F238E27FC236}">
                <a16:creationId xmlns:a16="http://schemas.microsoft.com/office/drawing/2014/main" id="{B8BA5AFB-5A82-83EC-3C67-3A8DA9F4E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97" y="3120571"/>
            <a:ext cx="4484132" cy="323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04AFF8-851A-B6DF-2D36-BA46A8D4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Fundamental</a:t>
            </a:r>
            <a:r>
              <a:rPr lang="it-IT" dirty="0"/>
              <a:t> FPGA </a:t>
            </a:r>
            <a:r>
              <a:rPr lang="it-IT" dirty="0" err="1"/>
              <a:t>components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320C7B5-C5AB-93C1-C9F0-6C657C42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D261925-B9EC-0A2D-529A-656E28B4F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D7E25EC-F8C8-787E-347D-A21A620E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EB55FA5-A059-C04E-DC0B-38FD76010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205" y="1282183"/>
            <a:ext cx="9867569" cy="49773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5485A7A-BDD8-DC90-E1D9-187E520E2590}"/>
              </a:ext>
            </a:extLst>
          </p:cNvPr>
          <p:cNvSpPr/>
          <p:nvPr/>
        </p:nvSpPr>
        <p:spPr>
          <a:xfrm>
            <a:off x="6633882" y="1999129"/>
            <a:ext cx="340659" cy="25101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23A8D9-6BF2-7748-D6DF-F8C05815D628}"/>
              </a:ext>
            </a:extLst>
          </p:cNvPr>
          <p:cNvSpPr txBox="1"/>
          <p:nvPr/>
        </p:nvSpPr>
        <p:spPr>
          <a:xfrm>
            <a:off x="6500281" y="1599019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IOB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D1BF01-B76F-E123-1058-61AE61A32D55}"/>
              </a:ext>
            </a:extLst>
          </p:cNvPr>
          <p:cNvSpPr txBox="1"/>
          <p:nvPr/>
        </p:nvSpPr>
        <p:spPr>
          <a:xfrm>
            <a:off x="1669924" y="1282183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PSM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32A037-75EA-ACA8-E350-7F799A072B6B}"/>
              </a:ext>
            </a:extLst>
          </p:cNvPr>
          <p:cNvSpPr txBox="1"/>
          <p:nvPr/>
        </p:nvSpPr>
        <p:spPr>
          <a:xfrm>
            <a:off x="3065570" y="3770842"/>
            <a:ext cx="6559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CLB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0DAABE-D0A3-C681-9E52-4E0C6FD40928}"/>
              </a:ext>
            </a:extLst>
          </p:cNvPr>
          <p:cNvSpPr txBox="1"/>
          <p:nvPr/>
        </p:nvSpPr>
        <p:spPr>
          <a:xfrm>
            <a:off x="7659857" y="3860490"/>
            <a:ext cx="3222292" cy="2308324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 addition to: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PLL and clock management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Distributed memory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DSP blocks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Soft-cores (</a:t>
            </a:r>
            <a:r>
              <a:rPr lang="en-US" dirty="0" err="1"/>
              <a:t>microblaze</a:t>
            </a:r>
            <a:r>
              <a:rPr lang="en-US" dirty="0"/>
              <a:t>)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Hard-cores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Transceivers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Configuration logic</a:t>
            </a:r>
          </a:p>
        </p:txBody>
      </p:sp>
    </p:spTree>
    <p:extLst>
      <p:ext uri="{BB962C8B-B14F-4D97-AF65-F5344CB8AC3E}">
        <p14:creationId xmlns:p14="http://schemas.microsoft.com/office/powerpoint/2010/main" val="2312450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A20D61-CD95-5939-E774-B07020358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interconnections</a:t>
            </a:r>
            <a:r>
              <a:rPr lang="it-IT" dirty="0"/>
              <a:t> /1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0182287-9763-4657-1AC5-B1C662EEF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E488A53-65EF-8249-B0AD-BA849B827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CB56192-0F76-4859-C41B-41C95CBC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pic>
        <p:nvPicPr>
          <p:cNvPr id="9" name="Immagine 8" descr="Immagine che contiene diagramma, linea, Piano, Disegno tecnico&#10;&#10;Il contenuto generato dall'IA potrebbe non essere corretto.">
            <a:extLst>
              <a:ext uri="{FF2B5EF4-FFF2-40B4-BE49-F238E27FC236}">
                <a16:creationId xmlns:a16="http://schemas.microsoft.com/office/drawing/2014/main" id="{FB5FA3D6-E6BF-AAD5-19DE-AEDFFAEA8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057" y="1185334"/>
            <a:ext cx="3013546" cy="2825199"/>
          </a:xfrm>
          <a:prstGeom prst="rect">
            <a:avLst/>
          </a:prstGeom>
        </p:spPr>
      </p:pic>
      <p:pic>
        <p:nvPicPr>
          <p:cNvPr id="11" name="Immagine 10" descr="Immagine che contiene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D7DD2366-295C-A904-4FD8-FA24AF990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928" y="978709"/>
            <a:ext cx="3760029" cy="336571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FE84802-E14B-EDDB-E736-6E4529AD0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523" y="3298157"/>
            <a:ext cx="3689026" cy="28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421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EA67A4-6B07-BA1A-9A72-E76ABEB4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interconnections</a:t>
            </a:r>
            <a:r>
              <a:rPr lang="it-IT" dirty="0"/>
              <a:t> /2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FCE6FED-9F3C-5C17-4743-F3D53CBE4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201C11-DDF7-C4A9-7ADC-7DB2ECDB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70CBD32-7702-6B96-26DA-74EBB7189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A4287D9-3080-1B87-9471-6D836EA8E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587" y="973317"/>
            <a:ext cx="9155680" cy="5383033"/>
          </a:xfrm>
          <a:prstGeom prst="rect">
            <a:avLst/>
          </a:prstGeom>
        </p:spPr>
      </p:pic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10A0714C-C029-2838-91C8-27F26A257C71}"/>
              </a:ext>
            </a:extLst>
          </p:cNvPr>
          <p:cNvSpPr/>
          <p:nvPr/>
        </p:nvSpPr>
        <p:spPr>
          <a:xfrm rot="9025519">
            <a:off x="5918514" y="1150699"/>
            <a:ext cx="1839656" cy="43439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99BEB40-C218-21F7-0208-68F72DBC9EFD}"/>
              </a:ext>
            </a:extLst>
          </p:cNvPr>
          <p:cNvSpPr txBox="1"/>
          <p:nvPr/>
        </p:nvSpPr>
        <p:spPr>
          <a:xfrm>
            <a:off x="7657106" y="659310"/>
            <a:ext cx="35383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Programmable</a:t>
            </a:r>
            <a:r>
              <a:rPr lang="it-IT" b="1" dirty="0"/>
              <a:t> Switch Matrix</a:t>
            </a:r>
          </a:p>
        </p:txBody>
      </p:sp>
    </p:spTree>
    <p:extLst>
      <p:ext uri="{BB962C8B-B14F-4D97-AF65-F5344CB8AC3E}">
        <p14:creationId xmlns:p14="http://schemas.microsoft.com/office/powerpoint/2010/main" val="3893758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0D6293-C92E-4F70-CA0F-28EB15B60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/1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134EFD0-57D8-C273-610D-D250C087C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58805C0-37EF-CB5F-C682-5DE997A8B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1037A6D-E5C6-6608-564B-64C6D122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3CAEE21-10B5-ADA9-E45F-B56B56D80363}"/>
              </a:ext>
            </a:extLst>
          </p:cNvPr>
          <p:cNvSpPr txBox="1"/>
          <p:nvPr/>
        </p:nvSpPr>
        <p:spPr>
          <a:xfrm>
            <a:off x="749411" y="1278374"/>
            <a:ext cx="61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to implement a 2-bit truth table (</a:t>
            </a:r>
            <a:r>
              <a:rPr lang="en-US" dirty="0" err="1"/>
              <a:t>boolean</a:t>
            </a:r>
            <a:r>
              <a:rPr lang="en-US" dirty="0"/>
              <a:t> logic) ?</a:t>
            </a:r>
            <a:endParaRPr lang="it-IT" dirty="0"/>
          </a:p>
        </p:txBody>
      </p:sp>
      <p:pic>
        <p:nvPicPr>
          <p:cNvPr id="9" name="Immagine 8" descr="Immagine che contiene diagramma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EAF3568D-02C9-908F-92EB-5A2FD3BD2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11" y="2130571"/>
            <a:ext cx="10448014" cy="3231711"/>
          </a:xfrm>
          <a:prstGeom prst="rect">
            <a:avLst/>
          </a:prstGeom>
        </p:spPr>
      </p:pic>
      <p:sp>
        <p:nvSpPr>
          <p:cNvPr id="6" name="CasellaDiTesto 6">
            <a:extLst>
              <a:ext uri="{FF2B5EF4-FFF2-40B4-BE49-F238E27FC236}">
                <a16:creationId xmlns:a16="http://schemas.microsoft.com/office/drawing/2014/main" id="{B22B59C0-5219-8A38-001E-D8EB1EF1F3CF}"/>
              </a:ext>
            </a:extLst>
          </p:cNvPr>
          <p:cNvSpPr txBox="1"/>
          <p:nvPr/>
        </p:nvSpPr>
        <p:spPr>
          <a:xfrm>
            <a:off x="8693483" y="1899738"/>
            <a:ext cx="1155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XNOR</a:t>
            </a:r>
            <a:endParaRPr lang="it-IT" sz="2400" b="1" dirty="0"/>
          </a:p>
        </p:txBody>
      </p:sp>
    </p:spTree>
    <p:extLst>
      <p:ext uri="{BB962C8B-B14F-4D97-AF65-F5344CB8AC3E}">
        <p14:creationId xmlns:p14="http://schemas.microsoft.com/office/powerpoint/2010/main" val="253444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291AE-7A15-4045-7196-FE3E409C3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/2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90F363C-6DF9-E7F9-EBB3-F88191E83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894D146-858C-1F38-8CA9-FDCD32F3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4D389A6-07B4-30A8-41A8-7F9554DF9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A0D5F3D-3F4A-F96C-A341-360927DAD9D9}"/>
              </a:ext>
            </a:extLst>
          </p:cNvPr>
          <p:cNvSpPr txBox="1"/>
          <p:nvPr/>
        </p:nvSpPr>
        <p:spPr>
          <a:xfrm>
            <a:off x="669898" y="1185334"/>
            <a:ext cx="61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FPGA solution: write the truth table into a RAM !</a:t>
            </a:r>
            <a:endParaRPr lang="it-IT" dirty="0"/>
          </a:p>
        </p:txBody>
      </p:sp>
      <p:pic>
        <p:nvPicPr>
          <p:cNvPr id="9" name="Immagine 8" descr="Immagine che contiene diagramma, Piano, linea, Disegno tecnico&#10;&#10;Il contenuto generato dall'IA potrebbe non essere corretto.">
            <a:extLst>
              <a:ext uri="{FF2B5EF4-FFF2-40B4-BE49-F238E27FC236}">
                <a16:creationId xmlns:a16="http://schemas.microsoft.com/office/drawing/2014/main" id="{91935CD4-2825-1FE1-D8C4-BA37E81D6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073" y="1930847"/>
            <a:ext cx="7240016" cy="404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685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D07556-F97C-F6E9-F984-CEC8D64BA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/3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00778BB-6C4F-2D9E-F5CC-1F862B933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CCDD04C-8194-A249-C4FE-8DB9F8A1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9E69FA8-6512-B431-9516-8EA07D7C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Immagine 6" descr="Immagine che contiene diagramma, Piano, Disegno tecnico, linea&#10;&#10;Il contenuto generato dall'IA potrebbe non essere corretto.">
            <a:extLst>
              <a:ext uri="{FF2B5EF4-FFF2-40B4-BE49-F238E27FC236}">
                <a16:creationId xmlns:a16="http://schemas.microsoft.com/office/drawing/2014/main" id="{EA7BDE09-DA37-FFE2-1E95-7FF75AF9D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29" y="934647"/>
            <a:ext cx="8282248" cy="550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97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2DBEF-871F-0703-9480-4120C54E3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Logic</a:t>
            </a:r>
            <a:r>
              <a:rPr lang="it-IT" dirty="0"/>
              <a:t> Cell (LC)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767150A-E9A1-A7EF-376E-1C4917E19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2D02068-9BFF-0573-078B-D4DF4A75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9DB78F7-CD65-33D5-36DB-05593B91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0B4098-7794-7218-27B5-9117F30E88AC}"/>
              </a:ext>
            </a:extLst>
          </p:cNvPr>
          <p:cNvSpPr txBox="1"/>
          <p:nvPr/>
        </p:nvSpPr>
        <p:spPr>
          <a:xfrm>
            <a:off x="763325" y="1049572"/>
            <a:ext cx="97164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 err="1"/>
              <a:t>Xilinx</a:t>
            </a:r>
            <a:r>
              <a:rPr lang="it-IT" sz="2400" dirty="0"/>
              <a:t> </a:t>
            </a:r>
            <a:r>
              <a:rPr lang="it-IT" sz="2400" dirty="0" err="1"/>
              <a:t>terminology</a:t>
            </a:r>
            <a:r>
              <a:rPr lang="it-IT" sz="2400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 err="1"/>
              <a:t>Logic</a:t>
            </a:r>
            <a:r>
              <a:rPr lang="it-IT" sz="2400" b="1" dirty="0"/>
              <a:t> Cell (LC) </a:t>
            </a:r>
            <a:r>
              <a:rPr lang="it-IT" sz="2400" dirty="0"/>
              <a:t>= 1x LUT + 1 </a:t>
            </a:r>
            <a:r>
              <a:rPr lang="it-IT" sz="2400" dirty="0" err="1"/>
              <a:t>register</a:t>
            </a:r>
            <a:r>
              <a:rPr lang="it-IT" sz="2400" dirty="0"/>
              <a:t> (FF) + </a:t>
            </a:r>
            <a:r>
              <a:rPr lang="it-IT" sz="2400" dirty="0" err="1"/>
              <a:t>programmable</a:t>
            </a:r>
            <a:r>
              <a:rPr lang="it-IT" sz="2400" dirty="0"/>
              <a:t> MUX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/>
              <a:t>LUT</a:t>
            </a:r>
            <a:r>
              <a:rPr lang="it-IT" sz="2400" dirty="0"/>
              <a:t> </a:t>
            </a:r>
            <a:r>
              <a:rPr lang="it-IT" sz="2400" dirty="0" err="1"/>
              <a:t>implemented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6-inputs, 64-bit 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slice = 4x </a:t>
            </a:r>
            <a:r>
              <a:rPr lang="it-IT" sz="2400" dirty="0" err="1"/>
              <a:t>LUTs</a:t>
            </a:r>
            <a:r>
              <a:rPr lang="it-IT" sz="2400" dirty="0"/>
              <a:t> + 8 </a:t>
            </a:r>
            <a:r>
              <a:rPr lang="it-IT" sz="2400" dirty="0" err="1"/>
              <a:t>registers</a:t>
            </a:r>
            <a:r>
              <a:rPr lang="it-IT" sz="2400" dirty="0"/>
              <a:t> (</a:t>
            </a:r>
            <a:r>
              <a:rPr lang="it-IT" sz="2400" dirty="0" err="1"/>
              <a:t>FFs</a:t>
            </a:r>
            <a:r>
              <a:rPr lang="it-IT" sz="2400" dirty="0"/>
              <a:t>) + </a:t>
            </a:r>
            <a:r>
              <a:rPr lang="it-IT" sz="2400" dirty="0" err="1"/>
              <a:t>MUXs</a:t>
            </a:r>
            <a:r>
              <a:rPr lang="it-IT" sz="2400" dirty="0"/>
              <a:t> + fast-</a:t>
            </a:r>
            <a:r>
              <a:rPr lang="it-IT" sz="2400" dirty="0" err="1"/>
              <a:t>carry</a:t>
            </a:r>
            <a:r>
              <a:rPr lang="it-IT" sz="2400" dirty="0"/>
              <a:t> chain (CLA)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 err="1"/>
              <a:t>Congurable</a:t>
            </a:r>
            <a:r>
              <a:rPr lang="it-IT" sz="2400" b="1" dirty="0"/>
              <a:t> </a:t>
            </a:r>
            <a:r>
              <a:rPr lang="it-IT" sz="2400" b="1" dirty="0" err="1"/>
              <a:t>Logic</a:t>
            </a:r>
            <a:r>
              <a:rPr lang="it-IT" sz="2400" b="1" dirty="0"/>
              <a:t> Block (CLB) </a:t>
            </a:r>
            <a:r>
              <a:rPr lang="it-IT" sz="2400" dirty="0"/>
              <a:t>= 2x slices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Basic </a:t>
            </a:r>
            <a:r>
              <a:rPr lang="it-IT" sz="2400" dirty="0" err="1"/>
              <a:t>Element</a:t>
            </a:r>
            <a:r>
              <a:rPr lang="it-IT" sz="2400" dirty="0"/>
              <a:t> (BEL) = </a:t>
            </a:r>
            <a:r>
              <a:rPr lang="it-IT" sz="2400" dirty="0" err="1"/>
              <a:t>any</a:t>
            </a:r>
            <a:r>
              <a:rPr lang="it-IT" sz="2400" dirty="0"/>
              <a:t> device primitive</a:t>
            </a:r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DF738C90-B623-CC3B-885E-278FC9D86176}"/>
              </a:ext>
            </a:extLst>
          </p:cNvPr>
          <p:cNvSpPr/>
          <p:nvPr/>
        </p:nvSpPr>
        <p:spPr>
          <a:xfrm rot="10800000">
            <a:off x="6634132" y="1808050"/>
            <a:ext cx="1839656" cy="43439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A53C7F7-01B0-D79B-E4E6-67CEED02FA4B}"/>
              </a:ext>
            </a:extLst>
          </p:cNvPr>
          <p:cNvSpPr txBox="1"/>
          <p:nvPr/>
        </p:nvSpPr>
        <p:spPr>
          <a:xfrm>
            <a:off x="8487217" y="1834402"/>
            <a:ext cx="1194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WHY?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42FAC31-FA5B-FE69-4F08-B8DDFEDB166D}"/>
              </a:ext>
            </a:extLst>
          </p:cNvPr>
          <p:cNvSpPr txBox="1"/>
          <p:nvPr/>
        </p:nvSpPr>
        <p:spPr>
          <a:xfrm>
            <a:off x="8986962" y="2483470"/>
            <a:ext cx="2757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 </a:t>
            </a:r>
            <a:r>
              <a:rPr lang="it-IT" b="1" dirty="0" err="1"/>
              <a:t>carry-lookahead</a:t>
            </a:r>
            <a:r>
              <a:rPr lang="it-IT" b="1" dirty="0"/>
              <a:t> </a:t>
            </a:r>
            <a:r>
              <a:rPr lang="it-IT" b="1" dirty="0" err="1"/>
              <a:t>adder</a:t>
            </a:r>
            <a:r>
              <a:rPr lang="it-IT" b="1" dirty="0"/>
              <a:t> 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17607BF9-5CA7-3096-162A-4BB3A0B8B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747" y="3357896"/>
            <a:ext cx="7307628" cy="301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887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352A6A-75AE-D86B-054E-0CF89CFB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I/O </a:t>
            </a:r>
            <a:r>
              <a:rPr lang="it-IT" dirty="0" err="1"/>
              <a:t>pads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CF5AAE8-AE4F-988E-3587-1AE3481C1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2E33C66-A9D2-0743-1D11-1860CCD16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B115AA3-C952-606D-EB4B-1612B21A3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19389F5-7C5F-B816-DE2C-19C3B43E1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067" y="914400"/>
            <a:ext cx="7153383" cy="535386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80DAC9A1-8044-2BA4-68D5-F8BE362055BB}"/>
              </a:ext>
            </a:extLst>
          </p:cNvPr>
          <p:cNvSpPr txBox="1"/>
          <p:nvPr/>
        </p:nvSpPr>
        <p:spPr>
          <a:xfrm>
            <a:off x="3766798" y="906214"/>
            <a:ext cx="2784392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it-IT" sz="3600" b="1" dirty="0"/>
              <a:t>I/O BLOCK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635DC5E-95D0-29FA-9A9B-5C3835B9830E}"/>
              </a:ext>
            </a:extLst>
          </p:cNvPr>
          <p:cNvSpPr txBox="1"/>
          <p:nvPr/>
        </p:nvSpPr>
        <p:spPr>
          <a:xfrm>
            <a:off x="7709709" y="2711072"/>
            <a:ext cx="3311224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it-IT" sz="3600" b="1" dirty="0" err="1"/>
              <a:t>Programmable</a:t>
            </a:r>
            <a:endParaRPr lang="it-IT" sz="3600" b="1" dirty="0"/>
          </a:p>
          <a:p>
            <a:r>
              <a:rPr lang="it-IT" sz="3600" b="1" dirty="0" err="1"/>
              <a:t>pad</a:t>
            </a:r>
            <a:endParaRPr lang="it-IT" sz="3600" b="1" dirty="0"/>
          </a:p>
        </p:txBody>
      </p:sp>
    </p:spTree>
    <p:extLst>
      <p:ext uri="{BB962C8B-B14F-4D97-AF65-F5344CB8AC3E}">
        <p14:creationId xmlns:p14="http://schemas.microsoft.com/office/powerpoint/2010/main" val="1615887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Xilinx</a:t>
            </a:r>
            <a:r>
              <a:rPr lang="it-IT" dirty="0"/>
              <a:t> FPGA line-up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CE6C928-24A7-6EA3-0C22-153193BE0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373" y="2274252"/>
            <a:ext cx="8881851" cy="392281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5105F99-9674-BA45-3DC3-1CB6DD22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572" y="1008994"/>
            <a:ext cx="4883452" cy="126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6B7659-A31E-F7B1-E28F-DB7B930A3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Xilinx</a:t>
            </a:r>
            <a:r>
              <a:rPr lang="it-IT" dirty="0"/>
              <a:t> 7-series family </a:t>
            </a:r>
            <a:r>
              <a:rPr lang="it-IT" dirty="0" err="1"/>
              <a:t>comparison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F506406-9A84-5045-E005-7679390B4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6EC4E53-FE85-E6DB-6FD8-C5BE5B202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A1AA8B4-AE3A-6903-F562-0F06D1503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1F875A6-D814-C5C4-DC51-9F12AC884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832" y="2895845"/>
            <a:ext cx="8911771" cy="346050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D14D6396-709F-ECEE-6F65-D281F1E538DE}"/>
              </a:ext>
            </a:extLst>
          </p:cNvPr>
          <p:cNvSpPr txBox="1"/>
          <p:nvPr/>
        </p:nvSpPr>
        <p:spPr>
          <a:xfrm>
            <a:off x="736598" y="864520"/>
            <a:ext cx="98443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Different size, number of programmable logic cells, I/O capabilities, performance and cost depending on the chosen device family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Spartan 7 : lowest-cost, lowest-power, good I/O performance, lowest number of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Artix</a:t>
            </a:r>
            <a:r>
              <a:rPr lang="en-US" dirty="0"/>
              <a:t> 7 : low-power, medium number of resources and I/O, good choice for DSP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Kintex</a:t>
            </a:r>
            <a:r>
              <a:rPr lang="en-US" dirty="0"/>
              <a:t> 7 : best compromise between number of resources, I/O, speed, power and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Virtex</a:t>
            </a:r>
            <a:r>
              <a:rPr lang="en-US" dirty="0"/>
              <a:t> 7 : highest system performance (resources, speed, I/O) but also largest power consumption and highest cost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06617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BDE282-68FE-3382-53AE-38E8619F5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BC7461-7EF7-5F79-8BA1-7EA160674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E97FB-9FF6-E5D6-B10E-F9A875C3F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4D938459-DB6E-738F-D1A9-429801FD5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FPGA </a:t>
            </a:r>
            <a:r>
              <a:rPr lang="it-IT" dirty="0" err="1"/>
              <a:t>advantages</a:t>
            </a:r>
            <a:r>
              <a:rPr lang="it-IT" dirty="0"/>
              <a:t> and </a:t>
            </a:r>
            <a:r>
              <a:rPr lang="it-IT" dirty="0" err="1"/>
              <a:t>disadvanges</a:t>
            </a:r>
            <a:endParaRPr lang="it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0CD8B3-C3C1-ED83-5CB9-6404EB53B164}"/>
              </a:ext>
            </a:extLst>
          </p:cNvPr>
          <p:cNvSpPr txBox="1"/>
          <p:nvPr/>
        </p:nvSpPr>
        <p:spPr>
          <a:xfrm>
            <a:off x="1299883" y="1425388"/>
            <a:ext cx="15441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Advantages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D0A53E-9EFE-2E0D-2B69-7263E7543CED}"/>
              </a:ext>
            </a:extLst>
          </p:cNvPr>
          <p:cNvSpPr txBox="1"/>
          <p:nvPr/>
        </p:nvSpPr>
        <p:spPr>
          <a:xfrm>
            <a:off x="8199721" y="1427167"/>
            <a:ext cx="1909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Disadvantages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74009-2150-3A14-FE67-C20EE636C939}"/>
              </a:ext>
            </a:extLst>
          </p:cNvPr>
          <p:cNvSpPr txBox="1"/>
          <p:nvPr/>
        </p:nvSpPr>
        <p:spPr>
          <a:xfrm>
            <a:off x="7451182" y="2068786"/>
            <a:ext cx="340670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Expensive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High power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Volative / BOOT time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High pin count / BGA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Complicated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Many traps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Complex tools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Hard to chose / compare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HDL “not easy” / intuitive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F2CA9-B05C-6009-8B85-9982DAB04CE5}"/>
              </a:ext>
            </a:extLst>
          </p:cNvPr>
          <p:cNvSpPr txBox="1"/>
          <p:nvPr/>
        </p:nvSpPr>
        <p:spPr>
          <a:xfrm>
            <a:off x="460742" y="2061558"/>
            <a:ext cx="272273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Cheap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Do anything!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Super fast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Fiel programmable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Massively parallel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sz="2000" b="1" dirty="0"/>
              <a:t>High I/O count</a:t>
            </a:r>
          </a:p>
          <a:p>
            <a:pPr marL="285750" indent="-285750">
              <a:buFont typeface="Wingdings" pitchFamily="2" charset="2"/>
              <a:buChar char="è"/>
            </a:pP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618269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“programming” a FPGA?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9174145-3136-7353-E0C3-F5C189206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55" y="1353312"/>
            <a:ext cx="2355168" cy="4839004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A821C27-E737-89EC-9C2D-DA6E1EE3A8A7}"/>
              </a:ext>
            </a:extLst>
          </p:cNvPr>
          <p:cNvSpPr txBox="1"/>
          <p:nvPr/>
        </p:nvSpPr>
        <p:spPr>
          <a:xfrm>
            <a:off x="2627223" y="1505146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Describe what the hardware should do.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D5038A7-39CD-4AE8-E21D-DDE81F0AE082}"/>
              </a:ext>
            </a:extLst>
          </p:cNvPr>
          <p:cNvSpPr txBox="1"/>
          <p:nvPr/>
        </p:nvSpPr>
        <p:spPr>
          <a:xfrm>
            <a:off x="2627223" y="2194290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Check </a:t>
            </a:r>
            <a:r>
              <a:rPr lang="it-IT" dirty="0" err="1"/>
              <a:t>Syntax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9FEFDBC-EDE1-6F1A-D419-36C4996016D8}"/>
              </a:ext>
            </a:extLst>
          </p:cNvPr>
          <p:cNvSpPr txBox="1"/>
          <p:nvPr/>
        </p:nvSpPr>
        <p:spPr>
          <a:xfrm>
            <a:off x="2627223" y="2801345"/>
            <a:ext cx="92927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“compiles” the design to transform HDL source into an architecture-specific design netlist. (connections)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F01F1EE-981A-F12B-C64D-6C5724CB0336}"/>
              </a:ext>
            </a:extLst>
          </p:cNvPr>
          <p:cNvSpPr txBox="1"/>
          <p:nvPr/>
        </p:nvSpPr>
        <p:spPr>
          <a:xfrm>
            <a:off x="2627223" y="3449648"/>
            <a:ext cx="72859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Merges incoming netlists and constraints into a Xilinx design file</a:t>
            </a:r>
          </a:p>
          <a:p>
            <a:r>
              <a:rPr lang="en-US" dirty="0"/>
              <a:t>→ connections are merged with timing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C78B00B-808E-EA7C-C7BC-6C292E7630A2}"/>
              </a:ext>
            </a:extLst>
          </p:cNvPr>
          <p:cNvSpPr txBox="1"/>
          <p:nvPr/>
        </p:nvSpPr>
        <p:spPr>
          <a:xfrm>
            <a:off x="2627223" y="4134849"/>
            <a:ext cx="6115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Fits the design into the available resources</a:t>
            </a:r>
          </a:p>
          <a:p>
            <a:r>
              <a:rPr lang="en-US" dirty="0"/>
              <a:t>→ tell the FPGA which gate structures should be used</a:t>
            </a:r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2F492B9-5A41-75F6-2D32-5E5BB26C18F7}"/>
              </a:ext>
            </a:extLst>
          </p:cNvPr>
          <p:cNvSpPr txBox="1"/>
          <p:nvPr/>
        </p:nvSpPr>
        <p:spPr>
          <a:xfrm>
            <a:off x="2627223" y="4840416"/>
            <a:ext cx="6115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Places and routes the design to the timing constrains</a:t>
            </a:r>
          </a:p>
          <a:p>
            <a:r>
              <a:rPr lang="en-US" dirty="0"/>
              <a:t>→ decide, which gate is used for which function</a:t>
            </a:r>
            <a:endParaRPr lang="it-IT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31F2BC71-CD52-AED7-199B-8DBFC691BA44}"/>
              </a:ext>
            </a:extLst>
          </p:cNvPr>
          <p:cNvSpPr txBox="1"/>
          <p:nvPr/>
        </p:nvSpPr>
        <p:spPr>
          <a:xfrm>
            <a:off x="2627223" y="5657753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Write configuration into the FPGA or configuration memory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CCDEA7-B6F7-56C8-A8A0-3974A1779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Xilinx</a:t>
            </a:r>
            <a:r>
              <a:rPr lang="it-IT" dirty="0"/>
              <a:t> XDC – </a:t>
            </a:r>
            <a:r>
              <a:rPr lang="it-IT" dirty="0" err="1"/>
              <a:t>Xilinx</a:t>
            </a:r>
            <a:r>
              <a:rPr lang="it-IT" dirty="0"/>
              <a:t> Design </a:t>
            </a:r>
            <a:r>
              <a:rPr lang="it-IT" dirty="0" err="1"/>
              <a:t>Constraints</a:t>
            </a:r>
            <a:r>
              <a:rPr lang="it-IT" dirty="0"/>
              <a:t> file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A1A01CB-72C4-0473-C34C-44AFA56E5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2145C1A-A01C-837A-FC89-AF772F5BA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8CA8636-E713-5C19-95DC-5A5C67BFD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5BF80CB5-8E38-7777-DB00-3E394357A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13" y="2188865"/>
            <a:ext cx="10581774" cy="401814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D9312DD-66DE-0796-6161-0315F5E0F37F}"/>
              </a:ext>
            </a:extLst>
          </p:cNvPr>
          <p:cNvSpPr txBox="1"/>
          <p:nvPr/>
        </p:nvSpPr>
        <p:spPr>
          <a:xfrm>
            <a:off x="359944" y="1040768"/>
            <a:ext cx="11472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XDC constraints are based on the standard </a:t>
            </a:r>
            <a:r>
              <a:rPr lang="en-US" b="1" dirty="0"/>
              <a:t>Synopsys Design Constraints (SDC) </a:t>
            </a:r>
            <a:r>
              <a:rPr lang="en-US" dirty="0"/>
              <a:t>format. SDC has been in use and evolving for more than 20 years, making it the most popular and proven format for describing design constraints.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25423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C7191-7C22-A003-7025-A2A44E8D9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XDC key concepts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88E1DA-BE3E-6281-EDB7-5BFC4695F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DDFD42-29DE-C816-7194-DD13751C6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51046B-9FBF-D59A-BFFA-F7C9D79F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840F9-6854-9A63-DE40-185D0E01D9D7}"/>
              </a:ext>
            </a:extLst>
          </p:cNvPr>
          <p:cNvSpPr txBox="1"/>
          <p:nvPr/>
        </p:nvSpPr>
        <p:spPr>
          <a:xfrm>
            <a:off x="152397" y="914400"/>
            <a:ext cx="56099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Create clock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Define clocks interactions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input an output pins (and delays)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timing exceptions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BA142C-BF19-F2EA-8ECE-01BF8F632CE0}"/>
              </a:ext>
            </a:extLst>
          </p:cNvPr>
          <p:cNvSpPr txBox="1"/>
          <p:nvPr/>
        </p:nvSpPr>
        <p:spPr>
          <a:xfrm>
            <a:off x="1463427" y="3005300"/>
            <a:ext cx="66899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False Path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Clock Groups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Multicycle Path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Set Max Skew/Set Max Delay -</a:t>
            </a:r>
            <a:r>
              <a:rPr lang="en-US" sz="2400" b="1" dirty="0" err="1"/>
              <a:t>datapath_only</a:t>
            </a:r>
            <a:endParaRPr lang="en-US" sz="2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419F1-3FFD-443F-1021-6E85D3474BEC}"/>
              </a:ext>
            </a:extLst>
          </p:cNvPr>
          <p:cNvSpPr txBox="1"/>
          <p:nvPr/>
        </p:nvSpPr>
        <p:spPr>
          <a:xfrm>
            <a:off x="4885767" y="2179479"/>
            <a:ext cx="69904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a timing constraints which is not required to be optimized for timing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3CC52F-DEC6-1EC9-FA37-77479E711A3B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3899647" y="2364145"/>
            <a:ext cx="986120" cy="89778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1D33FF9-9321-246F-C295-F00FFD46E156}"/>
              </a:ext>
            </a:extLst>
          </p:cNvPr>
          <p:cNvSpPr txBox="1"/>
          <p:nvPr/>
        </p:nvSpPr>
        <p:spPr>
          <a:xfrm>
            <a:off x="5762331" y="2700974"/>
            <a:ext cx="6113928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The main difference between a </a:t>
            </a:r>
            <a:r>
              <a:rPr lang="en-US" b="1" dirty="0"/>
              <a:t>multicycle path</a:t>
            </a:r>
            <a:r>
              <a:rPr lang="en-US" dirty="0"/>
              <a:t> with many available cycles (</a:t>
            </a:r>
            <a:r>
              <a:rPr lang="en-US" i="1" dirty="0"/>
              <a:t>large n</a:t>
            </a:r>
            <a:r>
              <a:rPr lang="en-US" dirty="0"/>
              <a:t>) versus a </a:t>
            </a:r>
            <a:r>
              <a:rPr lang="en-US" b="1" dirty="0"/>
              <a:t>false path</a:t>
            </a:r>
            <a:r>
              <a:rPr lang="en-US" dirty="0"/>
              <a:t> is that the </a:t>
            </a:r>
            <a:r>
              <a:rPr lang="en-US" b="1" dirty="0"/>
              <a:t>multicycle path</a:t>
            </a:r>
            <a:r>
              <a:rPr lang="en-US" dirty="0"/>
              <a:t> will still be checked against setup and hold requirements and will still be included in the timing analysis.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6C0C68-AB4E-32D6-216C-6A33DA709AC4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957364" y="2484060"/>
            <a:ext cx="0" cy="59527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00EF38C-0CEF-A30D-3BA1-DACC5088C856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4598894" y="3301139"/>
            <a:ext cx="1163437" cy="6001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154A0798-6834-7F59-35AF-BCD8A5CC1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5322610"/>
            <a:ext cx="7772400" cy="62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4564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39028-FDB5-591E-649F-E1DACC811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WNS TNS WHS THS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27DA5-4B3F-4708-BA89-3B8962A1B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04665-8B4C-C0E5-0939-3F39B1C6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EDEB33-03F6-0301-49D3-30F1C488D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CAC50D-2D7C-84CC-0916-5A0A243F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3" y="1871662"/>
            <a:ext cx="7620000" cy="448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E71F00-26D1-07F3-76DA-9C193C9FBB39}"/>
              </a:ext>
            </a:extLst>
          </p:cNvPr>
          <p:cNvSpPr txBox="1"/>
          <p:nvPr/>
        </p:nvSpPr>
        <p:spPr>
          <a:xfrm>
            <a:off x="152397" y="914400"/>
            <a:ext cx="354058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Worst Negative Slack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Total Negative Slack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Works Hold Slack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Total Hold Slack</a:t>
            </a:r>
          </a:p>
        </p:txBody>
      </p:sp>
    </p:spTree>
    <p:extLst>
      <p:ext uri="{BB962C8B-B14F-4D97-AF65-F5344CB8AC3E}">
        <p14:creationId xmlns:p14="http://schemas.microsoft.com/office/powerpoint/2010/main" val="3908324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88299-50AE-D513-9DD2-06981ED8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Vivado</a:t>
            </a:r>
            <a:r>
              <a:rPr lang="en-US" dirty="0"/>
              <a:t> Implementation Strategies and Directives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1255-F051-876D-0810-1DFFAEE5C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AFD0BC-B64D-198D-3D41-E4CDEE55E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F4FCE-A1DA-31B3-1B52-E64C12E4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34CCC-96A2-41C3-691D-16DFDD4B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68" y="4115056"/>
            <a:ext cx="9689047" cy="20351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107C20-5A20-07A7-BC80-C5396F24477F}"/>
              </a:ext>
            </a:extLst>
          </p:cNvPr>
          <p:cNvSpPr txBox="1"/>
          <p:nvPr/>
        </p:nvSpPr>
        <p:spPr>
          <a:xfrm>
            <a:off x="152397" y="1067883"/>
            <a:ext cx="8001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effectLst/>
              </a:rPr>
              <a:t>Directive</a:t>
            </a:r>
            <a:r>
              <a:rPr lang="en-US" dirty="0">
                <a:effectLst/>
              </a:rPr>
              <a:t>: “directs” command behavior to try alternative algorithms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Enables wider exploration of design solutions</a:t>
            </a:r>
          </a:p>
          <a:p>
            <a:pPr marL="285750" indent="-285750">
              <a:spcAft>
                <a:spcPts val="413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Applies to </a:t>
            </a:r>
            <a:r>
              <a:rPr lang="en-US" dirty="0" err="1">
                <a:effectLst/>
              </a:rPr>
              <a:t>opt_design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place_design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phys_opt_design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route_design</a:t>
            </a:r>
            <a:endParaRPr lang="en-US" dirty="0"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74C8C9-E367-AE56-F439-D143488AF241}"/>
              </a:ext>
            </a:extLst>
          </p:cNvPr>
          <p:cNvSpPr txBox="1"/>
          <p:nvPr/>
        </p:nvSpPr>
        <p:spPr>
          <a:xfrm>
            <a:off x="152397" y="2222982"/>
            <a:ext cx="8001003" cy="1895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effectLst/>
              </a:rPr>
              <a:t>Strategy</a:t>
            </a:r>
            <a:r>
              <a:rPr lang="en-US" dirty="0">
                <a:effectLst/>
              </a:rPr>
              <a:t>: combination of implementation commands with directives</a:t>
            </a:r>
          </a:p>
          <a:p>
            <a:pPr marL="285750" indent="-285750">
              <a:spcAft>
                <a:spcPts val="413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Performance-centric: all commands use directives for higher performance</a:t>
            </a:r>
          </a:p>
          <a:p>
            <a:pPr marL="285750" indent="-285750">
              <a:spcAft>
                <a:spcPts val="413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Congestion-centric: all commands use directives that reduce congestion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Flow-centric: modifies the implementation flow to add steps to Defaults</a:t>
            </a:r>
          </a:p>
          <a:p>
            <a:pPr marL="742950" lvl="1" indent="-285750">
              <a:spcAft>
                <a:spcPts val="322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power_opt_design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post-route </a:t>
            </a:r>
            <a:r>
              <a:rPr lang="en-US" dirty="0" err="1">
                <a:effectLst/>
              </a:rPr>
              <a:t>phys_opt_design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22918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E30EED-FC8A-B5E1-0057-DFD5C33AB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Recommended</a:t>
            </a:r>
            <a:r>
              <a:rPr lang="it-IT" dirty="0"/>
              <a:t> </a:t>
            </a:r>
            <a:r>
              <a:rPr lang="it-IT" dirty="0" err="1"/>
              <a:t>Constraints</a:t>
            </a:r>
            <a:r>
              <a:rPr lang="it-IT" dirty="0"/>
              <a:t> </a:t>
            </a:r>
            <a:r>
              <a:rPr lang="it-IT" dirty="0" err="1"/>
              <a:t>Sequence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298D61C-206C-26CB-1D3C-94C40981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E800C4A-C1C1-931F-D845-17939E3FE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88ECC3F-F7EE-CD4F-91DA-FE066E52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C974F42-C453-4E39-B67D-3C2F69BDB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43" y="2131595"/>
            <a:ext cx="11277600" cy="134302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3417FA2-A4DD-A766-8B0C-F80EC4F23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80" y="3429000"/>
            <a:ext cx="11363325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644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C3C17A-39A1-8876-74EE-382786915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Digilent</a:t>
            </a:r>
            <a:r>
              <a:rPr lang="en-US" dirty="0"/>
              <a:t> Arty-A7 evaluation board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661094C-5380-6427-311B-B5837791F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C40599E-B41F-40B2-9600-434B5C517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DE8DB63-D371-3537-149B-D2FD844D2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82107F5-7300-13BC-A24A-119807C3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628" y="1334407"/>
            <a:ext cx="5101772" cy="5101772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56CF33CE-AB13-45B8-5E5F-563C72CC0FAE}"/>
              </a:ext>
            </a:extLst>
          </p:cNvPr>
          <p:cNvSpPr txBox="1"/>
          <p:nvPr/>
        </p:nvSpPr>
        <p:spPr>
          <a:xfrm>
            <a:off x="734786" y="1502620"/>
            <a:ext cx="61141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1" dirty="0"/>
              <a:t>Device: </a:t>
            </a:r>
            <a:r>
              <a:rPr lang="it-IT" sz="2400" b="1" dirty="0" err="1"/>
              <a:t>Xilinx</a:t>
            </a:r>
            <a:r>
              <a:rPr lang="it-IT" sz="2400" b="1" dirty="0"/>
              <a:t> Artix-7</a:t>
            </a:r>
          </a:p>
        </p:txBody>
      </p:sp>
    </p:spTree>
    <p:extLst>
      <p:ext uri="{BB962C8B-B14F-4D97-AF65-F5344CB8AC3E}">
        <p14:creationId xmlns:p14="http://schemas.microsoft.com/office/powerpoint/2010/main" val="2561060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2203</TotalTime>
  <Words>1341</Words>
  <Application>Microsoft Macintosh PowerPoint</Application>
  <PresentationFormat>Widescreen</PresentationFormat>
  <Paragraphs>233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Wingdings</vt:lpstr>
      <vt:lpstr>Office Theme</vt:lpstr>
      <vt:lpstr>Lezione 4 Introduction to FPGAs and Xilinx devices</vt:lpstr>
      <vt:lpstr>Early times of digital electronics</vt:lpstr>
      <vt:lpstr>Why programmable ICs?</vt:lpstr>
      <vt:lpstr>What are FPGAs?</vt:lpstr>
      <vt:lpstr>History of Programmable Logic Devices /1</vt:lpstr>
      <vt:lpstr>History of Programmable Logic Devices /2</vt:lpstr>
      <vt:lpstr>History of Programmable Logic Devices /3</vt:lpstr>
      <vt:lpstr>Price point</vt:lpstr>
      <vt:lpstr>Fundamental FPGA components</vt:lpstr>
      <vt:lpstr>Programmable interconnections /1</vt:lpstr>
      <vt:lpstr>Programmable interconnections /2</vt:lpstr>
      <vt:lpstr>Look-up tables (LUT) /1</vt:lpstr>
      <vt:lpstr>Look-up tables (LUT) /2</vt:lpstr>
      <vt:lpstr>Look-up tables (LUT) /3</vt:lpstr>
      <vt:lpstr>Logic Cell (LC)</vt:lpstr>
      <vt:lpstr>Programmable I/O pads</vt:lpstr>
      <vt:lpstr>Xilinx FPGA line-up</vt:lpstr>
      <vt:lpstr>Xilinx 7-series family comparison</vt:lpstr>
      <vt:lpstr>FPGA advantages and disadvanges</vt:lpstr>
      <vt:lpstr>How “programming” a FPGA?</vt:lpstr>
      <vt:lpstr>Xilinx XDC – Xilinx Design Constraints file</vt:lpstr>
      <vt:lpstr>XDC key concepts</vt:lpstr>
      <vt:lpstr>WNS TNS WHS THS</vt:lpstr>
      <vt:lpstr>Vivado Implementation Strategies and Directives</vt:lpstr>
      <vt:lpstr>Recommended Constraints Sequence</vt:lpstr>
      <vt:lpstr>Example: Digilent Arty-A7 evaluation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37</cp:revision>
  <dcterms:created xsi:type="dcterms:W3CDTF">2025-12-19T16:19:35Z</dcterms:created>
  <dcterms:modified xsi:type="dcterms:W3CDTF">2026-01-15T14:41:35Z</dcterms:modified>
</cp:coreProperties>
</file>