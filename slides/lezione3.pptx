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6" r:id="rId29"/>
    <p:sldId id="286" r:id="rId30"/>
    <p:sldId id="287" r:id="rId31"/>
    <p:sldId id="288" r:id="rId32"/>
    <p:sldId id="289" r:id="rId33"/>
    <p:sldId id="290" r:id="rId34"/>
    <p:sldId id="308" r:id="rId35"/>
    <p:sldId id="313" r:id="rId36"/>
    <p:sldId id="291" r:id="rId37"/>
    <p:sldId id="292" r:id="rId38"/>
    <p:sldId id="293" r:id="rId39"/>
    <p:sldId id="294" r:id="rId40"/>
    <p:sldId id="295" r:id="rId41"/>
    <p:sldId id="296" r:id="rId42"/>
    <p:sldId id="267" r:id="rId43"/>
    <p:sldId id="297" r:id="rId44"/>
    <p:sldId id="298" r:id="rId45"/>
    <p:sldId id="299" r:id="rId46"/>
    <p:sldId id="300" r:id="rId47"/>
    <p:sldId id="301" r:id="rId48"/>
    <p:sldId id="309" r:id="rId49"/>
    <p:sldId id="311" r:id="rId50"/>
    <p:sldId id="312" r:id="rId51"/>
    <p:sldId id="31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3" autoAdjust="0"/>
    <p:restoredTop sz="94659"/>
  </p:normalViewPr>
  <p:slideViewPr>
    <p:cSldViewPr snapToGrid="0">
      <p:cViewPr varScale="1">
        <p:scale>
          <a:sx n="142" d="100"/>
          <a:sy n="142" d="100"/>
        </p:scale>
        <p:origin x="1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E4411-F617-6844-B543-1D0C1529BD0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1362C-BAF5-F649-B307-735187DD2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3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CC09-4F99-73CF-3366-BF8553ECF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C83AEC-9108-F6A8-E7DC-3EC9CBC83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821C4-69B6-52C3-D54E-D60D3B6C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F18E1-7780-0444-88D5-285D16C5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649C-D98B-6F9D-14BF-9570D30E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9F207-E794-97E7-C24F-26200A8A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554C-0CAC-9D52-F13B-6508B076C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4980E-BC28-A35E-E794-F0565658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B525C-D173-F9E8-331C-2C132E1A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FE64-D721-0A1E-66D3-C9B6123A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15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18E39-A926-C5D4-9AD2-2FA4CA39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4202-5CE0-9436-AC2D-95C4864A0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BABE-7373-84FF-EB0E-C5D958B89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7F5CC-9E1E-F96B-112F-38B46DF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EFD4D-8A85-6469-838B-313ECA182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3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D3CA-F062-F77B-B074-2A33BAC0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AA04-2768-7AC8-DBBB-A6B82146F0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78161-6FD8-7284-D0FA-83D5C5DD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5B2D6-474C-6E37-53B5-7091AA12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31AC5-061B-0D20-719B-32067F6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8CA48-E113-973F-F95E-F67A004C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2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ABF5-1272-0F68-EDEF-3453397E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7C664-453D-E132-E2B4-24BFCCBE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72550-C703-F076-4460-4A4FEE8C5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E0DCA-2861-F3F6-B1CB-72364E671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45173-E99E-415F-8BD5-99EA69B61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21D1C-2FAD-FA37-88B0-C3659B8E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E07A7-5BF9-9B60-25C5-13688C0A0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0E01F-A640-4955-1894-A519A908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70AB-F38F-99EA-731C-6BA901DB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A3DDD-C652-331A-175D-7D760C35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2C9BC-97D0-A2CB-88C8-4CF04BBA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02680-3FDF-DFD1-6CB5-5D4B747B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6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FE201-D63C-60D5-E2EC-B9EBCB9E3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6D342-1931-2AA9-7687-847C75860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660A9-F43D-227C-8234-BEE60AD3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9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7EEB-6C02-EE30-731A-E8DC27692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1621-A74F-6FD6-AF9C-7460CA255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421CD-9C08-A7FA-6BA1-068FB504A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B45AB-3867-817E-B76E-AD80391F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23CDE-B99F-2B00-1084-5515E91F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F4A5B-153A-F4A2-81D6-4F6CDAC9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1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E77E-622F-E699-2C0C-A966E665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5DF43E-D898-8F05-6B59-BC75E23ED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66EBC-ABE3-35FC-79CE-41D83BEFD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D10DD-E564-924A-81B0-55051280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CF2CA-200F-385D-6F98-F5283340C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D4557-82BF-F2CD-B5F6-453611F6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6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E643-7B29-C55D-D719-874E338A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B2EFE-7A94-BB1F-7602-AC3179B94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5185-4074-5175-94CD-23FE2ABA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3EA6-4656-6E06-A172-6F5455A6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7D197-7D89-DA98-857A-C77CE6B76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8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97297-C2CE-3D6C-773C-F5EB862FF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3970A-2CB4-0F8F-BDA7-74352434A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5B086-673B-B729-FD68-7FE63355E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8E6A-802F-3B39-3714-87A12F88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20551-5951-58F9-8A60-63056AC97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93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0F075-3597-1995-5933-30721CFFF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7" y="136526"/>
            <a:ext cx="11861805" cy="1048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E9CD7-3294-BD6F-6A39-47EEF2A68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667" y="1444624"/>
            <a:ext cx="11260666" cy="4676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95D53-F3BA-4A9E-FB43-580B243B2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3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19/01/2026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DC6F5-2297-C89D-3F5F-22CFBCDDE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Stefan Cristi Zugravel, elettronica base, TPS lezione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70B34-7185-C310-F8B4-DCF2EB1AC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7100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12E76-5DE4-834B-BE10-AD31AA7B2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1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E2A9-1BBB-033E-FB60-A29460223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noProof="0" dirty="0"/>
              <a:t>Lezione 3</a:t>
            </a:r>
            <a:br>
              <a:rPr lang="it-IT" noProof="0" dirty="0"/>
            </a:br>
            <a:r>
              <a:rPr lang="it-IT" noProof="0" dirty="0"/>
              <a:t>Digital systems &amp; VHDL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211EB-655F-BF24-C191-876947CFA1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noProof="0" dirty="0"/>
              <a:t>Stefan Cristi Zugravel</a:t>
            </a:r>
            <a:br>
              <a:rPr lang="it-IT" noProof="0" dirty="0"/>
            </a:br>
            <a:r>
              <a:rPr lang="it-IT" noProof="0" dirty="0"/>
              <a:t>19/01/2026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F82B-882C-1CE2-F12C-EDDE04BD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4D199-64B3-165F-3947-6C87785A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32777-6923-89C2-B843-DEF51F5D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6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64B3C-B2F0-057A-4F99-5926DF40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systems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069D2-11D9-4624-4A46-6A34A399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9AE5E-D7FC-B204-4711-0A934E3F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E9EEB-2B8C-6504-1628-261C93B5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D3DC3-8838-BE2E-8AC4-F2CE5FA324D3}"/>
              </a:ext>
            </a:extLst>
          </p:cNvPr>
          <p:cNvSpPr txBox="1"/>
          <p:nvPr/>
        </p:nvSpPr>
        <p:spPr>
          <a:xfrm>
            <a:off x="727788" y="1340041"/>
            <a:ext cx="93306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</a:rPr>
              <a:t>analog signals </a:t>
            </a:r>
            <a:r>
              <a:rPr lang="en-US" i="1" dirty="0">
                <a:effectLst/>
              </a:rPr>
              <a:t>: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continuous in both time and amplitude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usually a voltage v(t) or a current </a:t>
            </a:r>
            <a:r>
              <a:rPr lang="en-US" i="1" dirty="0" err="1">
                <a:effectLst/>
              </a:rPr>
              <a:t>i</a:t>
            </a:r>
            <a:r>
              <a:rPr lang="en-US" i="1" dirty="0">
                <a:effectLst/>
              </a:rPr>
              <a:t>(t) as a function of time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reach of information (e.g. frequency spectrum, FFT)</a:t>
            </a:r>
            <a:endParaRPr lang="en-US" dirty="0">
              <a:effectLst/>
            </a:endParaRPr>
          </a:p>
          <a:p>
            <a:pPr>
              <a:buNone/>
            </a:pPr>
            <a:r>
              <a:rPr lang="en-US" b="1" i="1" dirty="0">
                <a:effectLst/>
              </a:rPr>
              <a:t>digital signals </a:t>
            </a:r>
            <a:r>
              <a:rPr lang="en-US" i="1" dirty="0">
                <a:effectLst/>
              </a:rPr>
              <a:t>: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usually continuous in time but discrete in amplitude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only two possible values e.g. high/low voltage levels, true/false, on/</a:t>
            </a:r>
            <a:r>
              <a:rPr lang="en-US" i="1" dirty="0"/>
              <a:t>ff</a:t>
            </a:r>
            <a:r>
              <a:rPr lang="en-US" i="1" dirty="0">
                <a:effectLst/>
              </a:rPr>
              <a:t>, closed/open etc.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less information, but more robust against noise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can be either asynchronous signals or synchronous signals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7819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831D-7EE9-8F96-3CC0-17CE864B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Classification of digital circuits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C5E95-781C-B4A1-9DA1-D41D71CA3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B06FD-DC42-2A37-C456-38F5D4C8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82F3B-1E6B-9D88-A8AA-5BABEC4E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EEE36-2AB2-0466-4AA4-F212AFA6344E}"/>
              </a:ext>
            </a:extLst>
          </p:cNvPr>
          <p:cNvSpPr txBox="1"/>
          <p:nvPr/>
        </p:nvSpPr>
        <p:spPr>
          <a:xfrm>
            <a:off x="393442" y="1261197"/>
            <a:ext cx="61115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</a:rPr>
              <a:t>Digital circuits are classified as :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combinational circuits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sequential circuits</a:t>
            </a:r>
            <a:endParaRPr lang="en-US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asynchronous</a:t>
            </a:r>
            <a:endParaRPr lang="en-US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</a:rPr>
              <a:t>synchronous</a:t>
            </a:r>
            <a:endParaRPr lang="en-US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085B3B-2243-D5CE-AD46-79241E31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652" y="1436809"/>
            <a:ext cx="4975160" cy="3110628"/>
          </a:xfrm>
          <a:prstGeom prst="rect">
            <a:avLst/>
          </a:prstGeom>
        </p:spPr>
      </p:pic>
      <p:pic>
        <p:nvPicPr>
          <p:cNvPr id="1026" name="Picture 2" descr="How Logic Gates Work: OR, AND, XOR, NOR, NAND, XNOR, And NOT | Blog | SIIT">
            <a:extLst>
              <a:ext uri="{FF2B5EF4-FFF2-40B4-BE49-F238E27FC236}">
                <a16:creationId xmlns:a16="http://schemas.microsoft.com/office/drawing/2014/main" id="{5AD1826B-E253-9A1B-59A3-93C5FE7D5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27" y="3155197"/>
            <a:ext cx="5007950" cy="2979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681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E47E-C9F1-4473-EF3A-12ACF176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Hardware Description Languages (HDL)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6BCD4-44AE-0281-1B1D-72B9CD78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D8BD6-9020-3566-C328-14E09DCF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AD1A5-F549-1C27-91F8-0EDD5C61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2FD52-3352-1A22-FA56-A20CE17A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204" y="1649836"/>
            <a:ext cx="7772400" cy="424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8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CC35-D1B5-0DDB-6E74-E4D1DECBB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Hardware Description Languages (HDL)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AA82B-873C-BA3A-71EE-25CBED7C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07709-A996-F678-8735-0D17F846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C889A-6888-B49A-51DD-597956B1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9B2D2-2A39-F9FD-D2DE-98C2156C3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274" y="1796530"/>
            <a:ext cx="7772400" cy="4334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BD9CC7-EB38-22A1-2CF4-054B002A2D41}"/>
              </a:ext>
            </a:extLst>
          </p:cNvPr>
          <p:cNvSpPr txBox="1"/>
          <p:nvPr/>
        </p:nvSpPr>
        <p:spPr>
          <a:xfrm>
            <a:off x="200608" y="1225638"/>
            <a:ext cx="96820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</a:rPr>
              <a:t>COMPLEX</a:t>
            </a:r>
            <a:r>
              <a:rPr lang="en-US" i="1" dirty="0">
                <a:effectLst/>
              </a:rPr>
              <a:t> digital system (e.g. micro-processor) are designed and simulated writing code!</a:t>
            </a:r>
          </a:p>
          <a:p>
            <a:r>
              <a:rPr lang="en-US" i="1" dirty="0"/>
              <a:t>a </a:t>
            </a:r>
            <a:r>
              <a:rPr lang="en-US" b="1" i="1" dirty="0"/>
              <a:t>SYNTHESIS</a:t>
            </a:r>
            <a:r>
              <a:rPr lang="en-US" i="1" dirty="0"/>
              <a:t> tool generates the real </a:t>
            </a:r>
            <a:r>
              <a:rPr lang="en-US" b="1" i="1" dirty="0"/>
              <a:t>HARDWARE</a:t>
            </a:r>
            <a:r>
              <a:rPr lang="en-US" i="1" dirty="0"/>
              <a:t> for you !</a:t>
            </a:r>
            <a:endParaRPr lang="en-US" dirty="0"/>
          </a:p>
          <a:p>
            <a:pPr>
              <a:buNone/>
            </a:pPr>
            <a:endParaRPr lang="en-US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361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0D09-9360-9E12-1935-0ED34C3F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Hardware Description Languages (HDL)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D4AA3-2805-A55F-2A4D-F6833C98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E8780-D153-5368-8F48-9762B7D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DA955-28A5-56E5-673D-9E24662E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FA2D0-E0D0-0AA8-457D-8566D998D8CB}"/>
              </a:ext>
            </a:extLst>
          </p:cNvPr>
          <p:cNvSpPr txBox="1"/>
          <p:nvPr/>
        </p:nvSpPr>
        <p:spPr>
          <a:xfrm>
            <a:off x="292359" y="1343608"/>
            <a:ext cx="98780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Helvetica" pitchFamily="2" charset="0"/>
              </a:rPr>
              <a:t>Hardware Description Languages (HDLs)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they are NOT "programming" languages 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provide constructs for both implementation (describe the functionality of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digital circuits) and veri</a:t>
            </a:r>
            <a:r>
              <a:rPr lang="en-US" dirty="0">
                <a:latin typeface="Helvetica" pitchFamily="2" charset="0"/>
              </a:rPr>
              <a:t>fi</a:t>
            </a:r>
            <a:r>
              <a:rPr lang="en-US" dirty="0">
                <a:effectLst/>
                <a:latin typeface="Helvetica" pitchFamily="2" charset="0"/>
              </a:rPr>
              <a:t>cation (simulations, assertions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synthesis ( first step of modern digital design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"synthesizable" constructs are only a minimal subset of the full language</a:t>
            </a:r>
          </a:p>
          <a:p>
            <a:r>
              <a:rPr lang="en-US" dirty="0">
                <a:latin typeface="Helvetica" pitchFamily="2" charset="0"/>
              </a:rPr>
              <a:t>T</a:t>
            </a:r>
            <a:r>
              <a:rPr lang="en-US" dirty="0">
                <a:effectLst/>
                <a:latin typeface="Helvetica" pitchFamily="2" charset="0"/>
              </a:rPr>
              <a:t>wo main options on the market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VHDL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Verilog</a:t>
            </a:r>
          </a:p>
          <a:p>
            <a:pPr>
              <a:buNone/>
            </a:pPr>
            <a:r>
              <a:rPr lang="en-US" dirty="0">
                <a:effectLst/>
                <a:latin typeface="Helvetica" pitchFamily="2" charset="0"/>
              </a:rPr>
              <a:t>advanced options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high-level synthesis (HLS) using C/SystemC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Helvetica" pitchFamily="2" charset="0"/>
              </a:rPr>
              <a:t>SystemVerilog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analog and mixed-signal simulations (Verilog-A, Verilog-AMS, VHDL-AMS)</a:t>
            </a:r>
          </a:p>
        </p:txBody>
      </p:sp>
    </p:spTree>
    <p:extLst>
      <p:ext uri="{BB962C8B-B14F-4D97-AF65-F5344CB8AC3E}">
        <p14:creationId xmlns:p14="http://schemas.microsoft.com/office/powerpoint/2010/main" val="63127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68023-AF5A-4E6D-4418-750D16400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9AF3E-D271-0D0E-8F8F-AC42B117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5BE5-0B0D-BB52-FF35-4693413B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42B2F-FDB6-AF53-7B37-5DD5F6FC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731E0-0B39-BBCD-8AB6-5695CE330710}"/>
              </a:ext>
            </a:extLst>
          </p:cNvPr>
          <p:cNvSpPr txBox="1"/>
          <p:nvPr/>
        </p:nvSpPr>
        <p:spPr>
          <a:xfrm>
            <a:off x="622041" y="1287624"/>
            <a:ext cx="99588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VHDL = VHSIC-HDL (Hardware Description Language)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VHSIC = Very High Speed Integrated Circuit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born in 1983 as a project from US Department of Defense (DoD)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syntax derived from the </a:t>
            </a:r>
            <a:r>
              <a:rPr lang="en-US" b="1" dirty="0">
                <a:effectLst/>
              </a:rPr>
              <a:t>ADA programming language </a:t>
            </a:r>
            <a:r>
              <a:rPr lang="en-US" dirty="0">
                <a:effectLst/>
              </a:rPr>
              <a:t>(similar to PASCAL)</a:t>
            </a:r>
            <a:r>
              <a:rPr lang="en-US" dirty="0"/>
              <a:t> </a:t>
            </a:r>
            <a:r>
              <a:rPr lang="en-US" dirty="0">
                <a:effectLst/>
              </a:rPr>
              <a:t>as requested by DoD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initially foreseen as a language used to describe and simulate digital integrated circuits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later used also for digital synthesis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1987: first standardization as </a:t>
            </a:r>
            <a:r>
              <a:rPr lang="en-US" b="1" dirty="0">
                <a:effectLst/>
              </a:rPr>
              <a:t>IEEE Std. 1076-1987 </a:t>
            </a:r>
            <a:r>
              <a:rPr lang="en-US" dirty="0">
                <a:effectLst/>
              </a:rPr>
              <a:t>(aka "VHDL 87")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1993: </a:t>
            </a:r>
            <a:r>
              <a:rPr lang="en-US" b="1" dirty="0">
                <a:effectLst/>
              </a:rPr>
              <a:t>first major revision </a:t>
            </a:r>
            <a:r>
              <a:rPr lang="en-US" dirty="0">
                <a:effectLst/>
              </a:rPr>
              <a:t>of the language as </a:t>
            </a:r>
            <a:r>
              <a:rPr lang="en-US" b="1" dirty="0">
                <a:effectLst/>
              </a:rPr>
              <a:t>IEEE Std. 1076-1993</a:t>
            </a:r>
            <a:r>
              <a:rPr lang="en-US" b="1" dirty="0"/>
              <a:t> </a:t>
            </a:r>
            <a:r>
              <a:rPr lang="en-US" dirty="0">
                <a:effectLst/>
              </a:rPr>
              <a:t>(aka "VHDL 93")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2008: </a:t>
            </a:r>
            <a:r>
              <a:rPr lang="en-US" b="1" dirty="0">
                <a:effectLst/>
              </a:rPr>
              <a:t>second major revision </a:t>
            </a:r>
            <a:r>
              <a:rPr lang="en-US" dirty="0">
                <a:effectLst/>
              </a:rPr>
              <a:t>of the language as </a:t>
            </a:r>
            <a:r>
              <a:rPr lang="en-US" b="1" dirty="0">
                <a:effectLst/>
              </a:rPr>
              <a:t>IEEE Std. 1076-2008</a:t>
            </a:r>
            <a:r>
              <a:rPr lang="en-US" b="1" dirty="0"/>
              <a:t> </a:t>
            </a:r>
            <a:r>
              <a:rPr lang="en-US" dirty="0">
                <a:effectLst/>
              </a:rPr>
              <a:t>(aka "VHDL 2008")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provides constructs for both physical implementation (synthesizable) and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very reach syntax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extremely </a:t>
            </a:r>
            <a:r>
              <a:rPr lang="en-US" b="1" dirty="0">
                <a:effectLst/>
              </a:rPr>
              <a:t>verbose</a:t>
            </a:r>
            <a:r>
              <a:rPr lang="en-US" dirty="0">
                <a:effectLst/>
              </a:rPr>
              <a:t> and </a:t>
            </a:r>
            <a:r>
              <a:rPr lang="en-US" b="1" dirty="0">
                <a:effectLst/>
              </a:rPr>
              <a:t>strongly typed </a:t>
            </a:r>
            <a:r>
              <a:rPr lang="en-US" dirty="0">
                <a:effectLst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6161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48B4-08AC-79E3-8F47-B303AB8C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Verilog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25C34-6EC1-0D80-D0AF-64C29680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39494-3007-445C-3B27-7A04E3624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3BDBB-F3B5-5FF0-ACF3-3C181D20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07461-932A-09B8-8D8A-960326C8F5B3}"/>
              </a:ext>
            </a:extLst>
          </p:cNvPr>
          <p:cNvSpPr txBox="1"/>
          <p:nvPr/>
        </p:nvSpPr>
        <p:spPr>
          <a:xfrm>
            <a:off x="634482" y="1026368"/>
            <a:ext cx="101952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created by P. Goel, P. Moorby, C.L. Huang and D. Warmke between late 1983 and early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1984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syntax derived from the </a:t>
            </a:r>
            <a:r>
              <a:rPr lang="en-US" b="1" dirty="0">
                <a:effectLst/>
                <a:latin typeface="Helvetica" pitchFamily="2" charset="0"/>
              </a:rPr>
              <a:t>C programming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introduced by Gateway Design Automation, later purchased by Cadence Design Systems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in 1990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born as a </a:t>
            </a:r>
            <a:r>
              <a:rPr lang="en-US" b="1" dirty="0">
                <a:effectLst/>
                <a:latin typeface="Helvetica" pitchFamily="2" charset="0"/>
              </a:rPr>
              <a:t>veri</a:t>
            </a:r>
            <a:r>
              <a:rPr lang="en-US" b="1" dirty="0">
                <a:latin typeface="Helvetica" pitchFamily="2" charset="0"/>
              </a:rPr>
              <a:t>fi</a:t>
            </a:r>
            <a:r>
              <a:rPr lang="en-US" b="1" dirty="0">
                <a:effectLst/>
                <a:latin typeface="Helvetica" pitchFamily="2" charset="0"/>
              </a:rPr>
              <a:t>cation</a:t>
            </a:r>
            <a:r>
              <a:rPr lang="en-US" dirty="0">
                <a:effectLst/>
                <a:latin typeface="Helvetica" pitchFamily="2" charset="0"/>
              </a:rPr>
              <a:t> language for logic designs, intended to describe and simulate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digital integrated circuits similar to VHDL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initially a </a:t>
            </a:r>
            <a:r>
              <a:rPr lang="en-US" b="1" dirty="0">
                <a:effectLst/>
                <a:latin typeface="Helvetica" pitchFamily="2" charset="0"/>
              </a:rPr>
              <a:t>proprietary</a:t>
            </a:r>
            <a:r>
              <a:rPr lang="en-US" dirty="0">
                <a:effectLst/>
                <a:latin typeface="Helvetica" pitchFamily="2" charset="0"/>
              </a:rPr>
              <a:t> and </a:t>
            </a:r>
            <a:r>
              <a:rPr lang="en-US" b="1" dirty="0">
                <a:effectLst/>
                <a:latin typeface="Helvetica" pitchFamily="2" charset="0"/>
              </a:rPr>
              <a:t>closed</a:t>
            </a:r>
            <a:r>
              <a:rPr lang="en-US" dirty="0">
                <a:effectLst/>
                <a:latin typeface="Helvetica" pitchFamily="2" charset="0"/>
              </a:rPr>
              <a:t> language owned by Cadence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later released by Cadence as an open language in order to cope with the increasing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popularity of VHDL (already standardized by IEEE in 1987)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1995: first standardization by IEEE as </a:t>
            </a:r>
            <a:r>
              <a:rPr lang="en-US" b="1" dirty="0">
                <a:effectLst/>
                <a:latin typeface="Helvetica" pitchFamily="2" charset="0"/>
              </a:rPr>
              <a:t>IEEE Std. 1364-1995 </a:t>
            </a:r>
            <a:r>
              <a:rPr lang="en-US" dirty="0">
                <a:effectLst/>
                <a:latin typeface="Helvetica" pitchFamily="2" charset="0"/>
              </a:rPr>
              <a:t>(aka "Verilog 95")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2001: first major revision of the language with extensions and new language features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known as </a:t>
            </a:r>
            <a:r>
              <a:rPr lang="en-US" b="1" dirty="0">
                <a:effectLst/>
                <a:latin typeface="Helvetica" pitchFamily="2" charset="0"/>
              </a:rPr>
              <a:t>IEEE Std. 1364-2001 </a:t>
            </a:r>
            <a:r>
              <a:rPr lang="en-US" dirty="0">
                <a:effectLst/>
                <a:latin typeface="Helvetica" pitchFamily="2" charset="0"/>
              </a:rPr>
              <a:t>(aka "Verilog 2001")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2006: second major revision with minor changes as </a:t>
            </a:r>
            <a:r>
              <a:rPr lang="en-US" b="1" dirty="0">
                <a:effectLst/>
                <a:latin typeface="Helvetica" pitchFamily="2" charset="0"/>
              </a:rPr>
              <a:t>IEEE Std. 1364-2006</a:t>
            </a:r>
            <a:r>
              <a:rPr lang="en-US" b="1" dirty="0">
                <a:latin typeface="Helvetica" pitchFamily="2" charset="0"/>
              </a:rPr>
              <a:t> </a:t>
            </a:r>
            <a:r>
              <a:rPr lang="en-US" dirty="0">
                <a:effectLst/>
                <a:latin typeface="Helvetica" pitchFamily="2" charset="0"/>
              </a:rPr>
              <a:t>(aka "Verilog 2006")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" pitchFamily="2" charset="0"/>
              </a:rPr>
              <a:t>finally merged as a sub-set of the </a:t>
            </a:r>
            <a:r>
              <a:rPr lang="en-US" b="1" dirty="0" err="1">
                <a:effectLst/>
                <a:latin typeface="Helvetica" pitchFamily="2" charset="0"/>
              </a:rPr>
              <a:t>SystemVerilog</a:t>
            </a:r>
            <a:r>
              <a:rPr lang="en-US" dirty="0">
                <a:effectLst/>
                <a:latin typeface="Helvetica" pitchFamily="2" charset="0"/>
              </a:rPr>
              <a:t> HDL as </a:t>
            </a:r>
            <a:r>
              <a:rPr lang="en-US" b="1" dirty="0">
                <a:effectLst/>
                <a:latin typeface="Helvetica" pitchFamily="2" charset="0"/>
              </a:rPr>
              <a:t>IEEE Std. 1800-2009</a:t>
            </a:r>
          </a:p>
        </p:txBody>
      </p:sp>
    </p:spTree>
    <p:extLst>
      <p:ext uri="{BB962C8B-B14F-4D97-AF65-F5344CB8AC3E}">
        <p14:creationId xmlns:p14="http://schemas.microsoft.com/office/powerpoint/2010/main" val="62380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F7F5-BD92-0481-05EA-09467A66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Verilog vs. VHDL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83E357-DA62-0905-E7E0-9D3B06BF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1B17F-86D7-D63A-3C7E-C5EECAE3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C7081-E525-4BF8-44A5-62415291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D9ACB-72D4-A4F6-EE04-E53971F0D807}"/>
              </a:ext>
            </a:extLst>
          </p:cNvPr>
          <p:cNvSpPr txBox="1"/>
          <p:nvPr/>
        </p:nvSpPr>
        <p:spPr>
          <a:xfrm>
            <a:off x="802433" y="1007705"/>
            <a:ext cx="919998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Verilog and VHDL are the two most widespread HDLs in the world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approx. 50% market each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Verilog more popular in US and Japan, VHDL in Europe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Verilog more used (and integrated with professional CAD tools) to design</a:t>
            </a:r>
            <a:r>
              <a:rPr lang="en-US" dirty="0"/>
              <a:t> </a:t>
            </a:r>
            <a:r>
              <a:rPr lang="en-US" b="1" dirty="0">
                <a:effectLst/>
              </a:rPr>
              <a:t>Application-Speci</a:t>
            </a:r>
            <a:r>
              <a:rPr lang="en-US" b="1" dirty="0"/>
              <a:t>fi</a:t>
            </a:r>
            <a:r>
              <a:rPr lang="en-US" b="1" dirty="0">
                <a:effectLst/>
              </a:rPr>
              <a:t>c Integrated Circuits</a:t>
            </a:r>
            <a:r>
              <a:rPr lang="en-US" dirty="0">
                <a:effectLst/>
              </a:rPr>
              <a:t> (ASICs)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traditionally VHDL more used for </a:t>
            </a:r>
            <a:r>
              <a:rPr lang="en-US" b="1" dirty="0">
                <a:effectLst/>
              </a:rPr>
              <a:t>FPGA programming </a:t>
            </a:r>
            <a:r>
              <a:rPr lang="en-US" dirty="0">
                <a:effectLst/>
              </a:rPr>
              <a:t>instead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both </a:t>
            </a:r>
            <a:r>
              <a:rPr lang="en-US" b="1" dirty="0">
                <a:effectLst/>
              </a:rPr>
              <a:t>equally</a:t>
            </a:r>
            <a:r>
              <a:rPr lang="en-US" dirty="0">
                <a:effectLst/>
              </a:rPr>
              <a:t> and well </a:t>
            </a:r>
            <a:r>
              <a:rPr lang="en-US" b="1" dirty="0">
                <a:effectLst/>
              </a:rPr>
              <a:t>supported</a:t>
            </a:r>
            <a:r>
              <a:rPr lang="en-US" dirty="0">
                <a:effectLst/>
              </a:rPr>
              <a:t> by </a:t>
            </a:r>
            <a:r>
              <a:rPr lang="en-US" b="1" dirty="0">
                <a:effectLst/>
              </a:rPr>
              <a:t>Xilinx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exception: gate-level timing simulations only supports Verilog netlists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individual preference, usually mostly historical (that is, first language learned...)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Verilog is </a:t>
            </a:r>
            <a:r>
              <a:rPr lang="en-US" b="1" dirty="0">
                <a:effectLst/>
              </a:rPr>
              <a:t>easier to learn </a:t>
            </a:r>
            <a:r>
              <a:rPr lang="en-US" dirty="0">
                <a:effectLst/>
              </a:rPr>
              <a:t>(C-like syntax), but also potentially more error-prone</a:t>
            </a:r>
            <a:r>
              <a:rPr lang="en-US" dirty="0"/>
              <a:t> </a:t>
            </a:r>
            <a:r>
              <a:rPr lang="en-US" dirty="0">
                <a:effectLst/>
              </a:rPr>
              <a:t>due to its relaxed data typing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that is... you can make real disasters on silicon with Verilog, while using VHDL</a:t>
            </a:r>
            <a:r>
              <a:rPr lang="en-US" dirty="0"/>
              <a:t> </a:t>
            </a:r>
            <a:r>
              <a:rPr lang="en-US" dirty="0">
                <a:effectLst/>
              </a:rPr>
              <a:t>is pretty impossible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starting alone from scratch... learn VHDL  first, then move to Verilog</a:t>
            </a:r>
            <a:r>
              <a:rPr lang="en-US" dirty="0"/>
              <a:t> </a:t>
            </a:r>
            <a:r>
              <a:rPr lang="en-US" dirty="0">
                <a:effectLst/>
              </a:rPr>
              <a:t>once really annoyed with VHDL "verbose" coding</a:t>
            </a:r>
          </a:p>
        </p:txBody>
      </p:sp>
    </p:spTree>
    <p:extLst>
      <p:ext uri="{BB962C8B-B14F-4D97-AF65-F5344CB8AC3E}">
        <p14:creationId xmlns:p14="http://schemas.microsoft.com/office/powerpoint/2010/main" val="240689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A27D-964F-5063-6A7C-7D242621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Digital simulators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51A61-5C9A-3102-F787-AD8E5FB1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8823C-EC8E-AE8A-9FAC-1396D7EF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C5BBA-231D-C594-7DB2-C6F0B1645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429E5-A0CE-8DF9-7E81-B8EE4A6E4726}"/>
              </a:ext>
            </a:extLst>
          </p:cNvPr>
          <p:cNvSpPr txBox="1"/>
          <p:nvPr/>
        </p:nvSpPr>
        <p:spPr>
          <a:xfrm>
            <a:off x="752670" y="1358310"/>
            <a:ext cx="80849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Many different digital simulators available on the market.</a:t>
            </a:r>
          </a:p>
          <a:p>
            <a:pPr>
              <a:buNone/>
            </a:pPr>
            <a:r>
              <a:rPr lang="en-US" dirty="0">
                <a:effectLst/>
              </a:rPr>
              <a:t>From the "big threes"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QuestaSim</a:t>
            </a:r>
            <a:r>
              <a:rPr lang="en-US" dirty="0">
                <a:effectLst/>
              </a:rPr>
              <a:t> (the professional version of </a:t>
            </a:r>
            <a:r>
              <a:rPr lang="en-US" dirty="0" err="1">
                <a:effectLst/>
              </a:rPr>
              <a:t>ModelSim</a:t>
            </a:r>
            <a:r>
              <a:rPr lang="en-US" dirty="0">
                <a:effectLst/>
              </a:rPr>
              <a:t>) by Mentor (now Siemens)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Xcelium</a:t>
            </a:r>
            <a:r>
              <a:rPr lang="en-US" dirty="0">
                <a:effectLst/>
              </a:rPr>
              <a:t> (legacy Incisive) by Cadence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VCS by Synopsys</a:t>
            </a:r>
          </a:p>
          <a:p>
            <a:pPr>
              <a:buNone/>
            </a:pPr>
            <a:r>
              <a:rPr lang="en-US" dirty="0">
                <a:effectLst/>
              </a:rPr>
              <a:t>Integrated with FPGA programming suites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XSim</a:t>
            </a:r>
            <a:r>
              <a:rPr lang="en-US" dirty="0">
                <a:effectLst/>
              </a:rPr>
              <a:t> as part of the </a:t>
            </a:r>
            <a:r>
              <a:rPr lang="en-US" dirty="0" err="1">
                <a:effectLst/>
              </a:rPr>
              <a:t>Vivado</a:t>
            </a:r>
            <a:r>
              <a:rPr lang="en-US" dirty="0">
                <a:effectLst/>
              </a:rPr>
              <a:t> design suite by Xilinx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ISim as part of the legacy ISE design suite by Xilinx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ModelSim</a:t>
            </a:r>
            <a:r>
              <a:rPr lang="en-US" dirty="0">
                <a:effectLst/>
              </a:rPr>
              <a:t> Altera as part of the Quartus design suite by Altera (now Intel)</a:t>
            </a:r>
          </a:p>
          <a:p>
            <a:pPr>
              <a:buNone/>
            </a:pPr>
            <a:r>
              <a:rPr lang="en-US" dirty="0">
                <a:effectLst/>
              </a:rPr>
              <a:t>Other solutions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effectLst/>
              </a:rPr>
              <a:t>Aldec</a:t>
            </a:r>
            <a:r>
              <a:rPr lang="en-US" dirty="0">
                <a:effectLst/>
              </a:rPr>
              <a:t> HDL by </a:t>
            </a:r>
            <a:r>
              <a:rPr lang="en-US" dirty="0" err="1">
                <a:effectLst/>
              </a:rPr>
              <a:t>Aldec</a:t>
            </a:r>
            <a:endParaRPr lang="en-US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open source simulators ( </a:t>
            </a:r>
            <a:r>
              <a:rPr lang="en-US" dirty="0" err="1">
                <a:effectLst/>
              </a:rPr>
              <a:t>FreeHDL</a:t>
            </a:r>
            <a:r>
              <a:rPr lang="en-US" dirty="0">
                <a:effectLst/>
              </a:rPr>
              <a:t>, Icarus, GHDL </a:t>
            </a:r>
            <a:r>
              <a:rPr lang="en-US" dirty="0" err="1">
                <a:effectLst/>
              </a:rPr>
              <a:t>etc</a:t>
            </a:r>
            <a:r>
              <a:rPr lang="en-US" dirty="0">
                <a:effectLst/>
              </a:rPr>
              <a:t>,)</a:t>
            </a:r>
          </a:p>
        </p:txBody>
      </p:sp>
    </p:spTree>
    <p:extLst>
      <p:ext uri="{BB962C8B-B14F-4D97-AF65-F5344CB8AC3E}">
        <p14:creationId xmlns:p14="http://schemas.microsoft.com/office/powerpoint/2010/main" val="1606772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9B6B-4D63-03F7-BF00-6F8F536A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VHDL fundamentals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4A3C7-318D-262D-0910-1BA3A3B0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92CCA-07C5-EF2E-FC47-EC1721E1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8F93A-BA2C-D96B-82F2-27CAE476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7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81D0-8522-3442-4601-AE1C8938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Case sensitivity, statements, white spaces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3ACA2-3CFA-6C1A-C6C5-FC80B5609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726DE-241E-1CBA-D0F1-8E23A458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8F6CE-9F41-1B9F-0B38-D0F078FF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EC42DA-7009-0A30-C18E-7D887A2873D6}"/>
              </a:ext>
            </a:extLst>
          </p:cNvPr>
          <p:cNvSpPr txBox="1"/>
          <p:nvPr/>
        </p:nvSpPr>
        <p:spPr>
          <a:xfrm>
            <a:off x="531066" y="1668678"/>
            <a:ext cx="7773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is </a:t>
            </a:r>
            <a:r>
              <a:rPr lang="en-US" b="1" i="1" dirty="0">
                <a:effectLst/>
                <a:latin typeface="Helvetica" pitchFamily="2" charset="0"/>
              </a:rPr>
              <a:t>case insensitive </a:t>
            </a:r>
            <a:r>
              <a:rPr lang="en-US" i="1" dirty="0">
                <a:effectLst/>
                <a:latin typeface="Helvetica" pitchFamily="2" charset="0"/>
              </a:rPr>
              <a:t>(on the contrary, Verilog is case sensitive) :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3042E0-FCCB-1704-EF80-03F331ABE034}"/>
              </a:ext>
            </a:extLst>
          </p:cNvPr>
          <p:cNvSpPr txBox="1"/>
          <p:nvPr/>
        </p:nvSpPr>
        <p:spPr>
          <a:xfrm>
            <a:off x="531066" y="3643182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every VHDL statement is terminated with a semicolon ;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ECD8A-8540-E934-2637-3DD36257653E}"/>
              </a:ext>
            </a:extLst>
          </p:cNvPr>
          <p:cNvSpPr txBox="1"/>
          <p:nvPr/>
        </p:nvSpPr>
        <p:spPr>
          <a:xfrm>
            <a:off x="531066" y="4381846"/>
            <a:ext cx="7861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is also not sensitive to blanks (white spaces) between statements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and empty lines are ignored by the compiler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385AFD-EE91-728A-6CB0-58049DD3D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87209"/>
            <a:ext cx="7772400" cy="68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2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70B0-3271-7F4B-1872-71932520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Comments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CDF0B-46BF-F3DC-9AA3-1D341112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E28AB-F6A4-7068-D898-EF84ACBD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5CA4B-82F2-13C4-BA28-5A75275A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0B209-B919-8842-1450-4C6357ABE4B2}"/>
              </a:ext>
            </a:extLst>
          </p:cNvPr>
          <p:cNvSpPr txBox="1"/>
          <p:nvPr/>
        </p:nvSpPr>
        <p:spPr>
          <a:xfrm>
            <a:off x="623596" y="1336224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in VHDL comments starts with two dashes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1" name="Picture 10" descr="A close-up of a white screen&#10;&#10;AI-generated content may be incorrect.">
            <a:extLst>
              <a:ext uri="{FF2B5EF4-FFF2-40B4-BE49-F238E27FC236}">
                <a16:creationId xmlns:a16="http://schemas.microsoft.com/office/drawing/2014/main" id="{E9C3D226-89C1-7C67-D47D-2632E409F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43" y="2026558"/>
            <a:ext cx="7772400" cy="15582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4ADA75-A02C-25EF-AC62-286488ED762D}"/>
              </a:ext>
            </a:extLst>
          </p:cNvPr>
          <p:cNvSpPr txBox="1"/>
          <p:nvPr/>
        </p:nvSpPr>
        <p:spPr>
          <a:xfrm>
            <a:off x="623596" y="3905794"/>
            <a:ext cx="8302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lacks the possibility to quickly comment large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sections of code (on the contrary, Verilog provides C-style block-comments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enclosed within /* and */)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8F585-5F1D-63EE-B8A1-E472C2652BD4}"/>
              </a:ext>
            </a:extLst>
          </p:cNvPr>
          <p:cNvSpPr txBox="1"/>
          <p:nvPr/>
        </p:nvSpPr>
        <p:spPr>
          <a:xfrm>
            <a:off x="623595" y="4923749"/>
            <a:ext cx="7717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always put a lot of appropriate comments to document your code !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392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17E4-73F5-B2FB-AE29-FC8F3030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VHDL core elements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72053-4C79-EADD-1C5C-44ED9A46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8BA60-6F89-BA01-1AFD-51C8AC30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08604-9B97-A592-CC27-D5787019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1C46628-0851-F03D-745C-C06028DC3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915" y="765109"/>
            <a:ext cx="4803929" cy="50789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D81625-3AF5-5F8E-6B0F-D5904B2A5D81}"/>
              </a:ext>
            </a:extLst>
          </p:cNvPr>
          <p:cNvSpPr txBox="1"/>
          <p:nvPr/>
        </p:nvSpPr>
        <p:spPr>
          <a:xfrm>
            <a:off x="747156" y="1185334"/>
            <a:ext cx="6111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  <a:latin typeface="Helvetica" pitchFamily="2" charset="0"/>
              </a:rPr>
              <a:t>libraries and packages</a:t>
            </a:r>
            <a:endParaRPr lang="en-US" b="1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import all useful data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types and functions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ADE7D2-A44A-E68B-ADEB-7B160D3DFCBD}"/>
              </a:ext>
            </a:extLst>
          </p:cNvPr>
          <p:cNvSpPr txBox="1"/>
          <p:nvPr/>
        </p:nvSpPr>
        <p:spPr>
          <a:xfrm>
            <a:off x="747156" y="2062681"/>
            <a:ext cx="611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  <a:latin typeface="Helvetica" pitchFamily="2" charset="0"/>
              </a:rPr>
              <a:t>ENTITY declaration</a:t>
            </a:r>
            <a:endParaRPr lang="en-US" b="1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interface of the digital block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optional parameters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A4FF3-49EB-C4C2-1D4D-25425FDA8D95}"/>
              </a:ext>
            </a:extLst>
          </p:cNvPr>
          <p:cNvSpPr txBox="1"/>
          <p:nvPr/>
        </p:nvSpPr>
        <p:spPr>
          <a:xfrm>
            <a:off x="747156" y="3614594"/>
            <a:ext cx="6111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  <a:latin typeface="Helvetica" pitchFamily="2" charset="0"/>
              </a:rPr>
              <a:t>ARCHITECTURE declaration</a:t>
            </a:r>
            <a:endParaRPr lang="en-US" b="1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actual implementation of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the block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746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1C88-0C60-9FCB-A27B-AB6E8028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Entity declaration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3A0D4-28C8-E46D-BEA4-90F4B2B8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0645C-1263-68B8-7F95-7B43B0364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C73D8-38B3-BB38-8A4D-AA2557CD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B4AB9-2EA5-4DAB-7B2F-915F32FEB7B8}"/>
              </a:ext>
            </a:extLst>
          </p:cNvPr>
          <p:cNvSpPr txBox="1"/>
          <p:nvPr/>
        </p:nvSpPr>
        <p:spPr>
          <a:xfrm>
            <a:off x="729343" y="1141742"/>
            <a:ext cx="8153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Any </a:t>
            </a:r>
            <a:r>
              <a:rPr lang="en-US" b="1" i="1" dirty="0">
                <a:effectLst/>
                <a:latin typeface="Helvetica" pitchFamily="2" charset="0"/>
              </a:rPr>
              <a:t>digital block </a:t>
            </a:r>
            <a:r>
              <a:rPr lang="en-US" i="1" dirty="0">
                <a:effectLst/>
                <a:latin typeface="Helvetica" pitchFamily="2" charset="0"/>
              </a:rPr>
              <a:t>implementing some functionality in VHDL is called 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entity </a:t>
            </a:r>
            <a:r>
              <a:rPr lang="en-US" i="1" dirty="0">
                <a:effectLst/>
                <a:latin typeface="Helvetica" pitchFamily="2" charset="0"/>
              </a:rPr>
              <a:t>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9" name="Picture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5CB4D24-BF51-15F7-984D-54F9199EC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247" y="1685245"/>
            <a:ext cx="4484840" cy="2855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9B50E4-8DEA-8345-513B-2F47C28EF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88" y="2048286"/>
            <a:ext cx="4038600" cy="1905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A9D804-1DB1-E123-B556-31F4B8B3C53E}"/>
              </a:ext>
            </a:extLst>
          </p:cNvPr>
          <p:cNvSpPr txBox="1"/>
          <p:nvPr/>
        </p:nvSpPr>
        <p:spPr>
          <a:xfrm>
            <a:off x="729343" y="3914138"/>
            <a:ext cx="61115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effectLst/>
                <a:latin typeface="Helvetica" pitchFamily="2" charset="0"/>
              </a:rPr>
              <a:t>the VHDL entity has I/O ports that can be declared as :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in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out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inout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buffer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B0C7D-5AFA-9C36-7F65-A353397B6A9C}"/>
              </a:ext>
            </a:extLst>
          </p:cNvPr>
          <p:cNvSpPr txBox="1"/>
          <p:nvPr/>
        </p:nvSpPr>
        <p:spPr>
          <a:xfrm>
            <a:off x="729343" y="5495972"/>
            <a:ext cx="7276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optionally, the block can also include parameters (generics)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31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EA40-134C-090D-D251-55A678FA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Port list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E6F09-04B9-2D95-67C0-FD9FB72E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966C2-6FA3-8B2B-2906-89B0FEA8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0CCD3-A6A4-2D3A-6890-3DFAF633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04076-0C72-A190-F694-AB83386A9EB1}"/>
              </a:ext>
            </a:extLst>
          </p:cNvPr>
          <p:cNvSpPr txBox="1"/>
          <p:nvPr/>
        </p:nvSpPr>
        <p:spPr>
          <a:xfrm>
            <a:off x="499189" y="1295663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Input ports :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8C784A-E6A6-F457-4B02-5B4B0A56FC7B}"/>
              </a:ext>
            </a:extLst>
          </p:cNvPr>
          <p:cNvSpPr txBox="1"/>
          <p:nvPr/>
        </p:nvSpPr>
        <p:spPr>
          <a:xfrm>
            <a:off x="499189" y="2875002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Output ports :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25A92-AC46-6EFF-CC15-373F8D4405CE}"/>
              </a:ext>
            </a:extLst>
          </p:cNvPr>
          <p:cNvSpPr txBox="1"/>
          <p:nvPr/>
        </p:nvSpPr>
        <p:spPr>
          <a:xfrm>
            <a:off x="499189" y="4454341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 err="1">
                <a:effectLst/>
                <a:latin typeface="Helvetica" pitchFamily="2" charset="0"/>
              </a:rPr>
              <a:t>Inout</a:t>
            </a:r>
            <a:r>
              <a:rPr lang="en-US" i="1" dirty="0">
                <a:effectLst/>
                <a:latin typeface="Helvetica" pitchFamily="2" charset="0"/>
              </a:rPr>
              <a:t> (bidirectional) ports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A372F4-7C34-5E49-32EE-0987C70FE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47" y="1917830"/>
            <a:ext cx="59944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3F304D-46DA-727C-F952-745AC9EF1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47" y="3569937"/>
            <a:ext cx="5969000" cy="558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883352-BEC4-C1E8-8A37-F36B50CCF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747" y="5494110"/>
            <a:ext cx="5892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04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B7A5-F399-D0E1-E522-492E20A6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Architecture declaration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FF6FE-5A6B-1B12-0D2C-3272AE9E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D61A6-E79D-953B-00D0-7430386D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1B016-6298-654B-B2D7-DAA58E71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CD7A3-E470-71D9-B660-229C563CF9F5}"/>
              </a:ext>
            </a:extLst>
          </p:cNvPr>
          <p:cNvSpPr txBox="1"/>
          <p:nvPr/>
        </p:nvSpPr>
        <p:spPr>
          <a:xfrm>
            <a:off x="335903" y="1402998"/>
            <a:ext cx="781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actual block implementation is coded in the 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architecture </a:t>
            </a:r>
            <a:r>
              <a:rPr lang="en-US" i="1" dirty="0">
                <a:effectLst/>
                <a:latin typeface="Helvetica" pitchFamily="2" charset="0"/>
              </a:rPr>
              <a:t>instead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DD44F9-E775-471E-6BA7-E592C24C9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378" y="2282352"/>
            <a:ext cx="7557208" cy="326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85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8362-D8BE-372D-D44B-E2019068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Testbench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62F4D-19C9-CEB9-7C4D-699826D1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FD092-B737-F6A6-1654-4714F8E1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E74B2-80FE-19C1-9EB9-F44B8C8D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7C41B-2B03-22C6-22DC-F12F696ED646}"/>
              </a:ext>
            </a:extLst>
          </p:cNvPr>
          <p:cNvSpPr txBox="1"/>
          <p:nvPr/>
        </p:nvSpPr>
        <p:spPr>
          <a:xfrm>
            <a:off x="920619" y="1170129"/>
            <a:ext cx="8304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 order to </a:t>
            </a:r>
            <a:r>
              <a:rPr lang="en-US" b="1" i="1" dirty="0"/>
              <a:t>simulate</a:t>
            </a:r>
            <a:r>
              <a:rPr lang="en-US" i="1" dirty="0"/>
              <a:t> the functionality of the digital block we also need a </a:t>
            </a:r>
            <a:r>
              <a:rPr lang="en-US" b="1" i="1" dirty="0"/>
              <a:t>testbench</a:t>
            </a:r>
            <a:r>
              <a:rPr lang="en-US" i="1" dirty="0"/>
              <a:t> that</a:t>
            </a:r>
            <a:r>
              <a:rPr lang="en-US" dirty="0"/>
              <a:t> </a:t>
            </a:r>
            <a:r>
              <a:rPr lang="en-US" i="1" dirty="0"/>
              <a:t>generates </a:t>
            </a:r>
            <a:r>
              <a:rPr lang="en-US" b="1" i="1" dirty="0"/>
              <a:t>stimuli</a:t>
            </a:r>
            <a:r>
              <a:rPr lang="en-US" i="1" dirty="0"/>
              <a:t> fed to input ports of our </a:t>
            </a:r>
            <a:r>
              <a:rPr lang="en-US" b="1" i="1" dirty="0"/>
              <a:t>Device Under Test (DUT):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BCB05B-838B-39DB-DA97-9C29010F0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123" y="1915352"/>
            <a:ext cx="7601341" cy="30798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876153-EC95-00A4-0889-BAF28B5ADB2D}"/>
              </a:ext>
            </a:extLst>
          </p:cNvPr>
          <p:cNvSpPr txBox="1"/>
          <p:nvPr/>
        </p:nvSpPr>
        <p:spPr>
          <a:xfrm>
            <a:off x="920619" y="5364705"/>
            <a:ext cx="822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module under test is always </a:t>
            </a:r>
            <a:r>
              <a:rPr lang="en-US" b="1" i="1" dirty="0">
                <a:effectLst/>
                <a:latin typeface="Helvetica" pitchFamily="2" charset="0"/>
              </a:rPr>
              <a:t>instantiated</a:t>
            </a:r>
            <a:r>
              <a:rPr lang="en-US" i="1" dirty="0">
                <a:effectLst/>
                <a:latin typeface="Helvetica" pitchFamily="2" charset="0"/>
              </a:rPr>
              <a:t> inside the testbench module, which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contains </a:t>
            </a:r>
            <a:r>
              <a:rPr lang="en-US" b="1" i="1" dirty="0">
                <a:effectLst/>
                <a:latin typeface="Helvetica" pitchFamily="2" charset="0"/>
              </a:rPr>
              <a:t>non-synthesizable code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512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C6E9-1A3A-6E6A-7B2E-74A805EC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VHDL data types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A72B61-0D65-2D7E-2D46-9D26D5A9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8A54C-B997-5997-F362-4D297E8E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7DFC9-AB9E-33A7-9FEC-4221DC03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61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F187-684C-8ABD-E45B-248AB39D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Logic constants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BE3DA-32CA-C369-8F90-6AF07A11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14D89-6C4F-7E8D-4412-C54D6A71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54DEE-1870-0104-67B3-C275B612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CE318-7ACF-EA35-85F8-F19606770536}"/>
              </a:ext>
            </a:extLst>
          </p:cNvPr>
          <p:cNvSpPr txBox="1"/>
          <p:nvPr/>
        </p:nvSpPr>
        <p:spPr>
          <a:xfrm>
            <a:off x="598715" y="1242917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Fundamental logic constants in VHDL are ‘1’ and ‘0’ :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819D3-E6AA-FDC0-D4FF-6532E1EB23C4}"/>
              </a:ext>
            </a:extLst>
          </p:cNvPr>
          <p:cNvSpPr txBox="1"/>
          <p:nvPr/>
        </p:nvSpPr>
        <p:spPr>
          <a:xfrm>
            <a:off x="598715" y="2144294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  <a:latin typeface="Helvetica" pitchFamily="2" charset="0"/>
              </a:rPr>
              <a:t>single quotes </a:t>
            </a:r>
            <a:r>
              <a:rPr lang="en-US" i="1" dirty="0">
                <a:effectLst/>
                <a:latin typeface="Helvetica" pitchFamily="2" charset="0"/>
              </a:rPr>
              <a:t>for 1-bit (scalar) logic constants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675439-2BB1-0C02-4A53-E014905FF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55" y="2588471"/>
            <a:ext cx="58674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F4411A-178F-68FD-2666-07CDD56139EF}"/>
              </a:ext>
            </a:extLst>
          </p:cNvPr>
          <p:cNvSpPr txBox="1"/>
          <p:nvPr/>
        </p:nvSpPr>
        <p:spPr>
          <a:xfrm>
            <a:off x="598715" y="3480701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  <a:latin typeface="Helvetica" pitchFamily="2" charset="0"/>
              </a:rPr>
              <a:t>double quotes </a:t>
            </a:r>
            <a:r>
              <a:rPr lang="en-US" i="1" dirty="0">
                <a:effectLst/>
                <a:latin typeface="Helvetica" pitchFamily="2" charset="0"/>
              </a:rPr>
              <a:t>for multiple-bits (buses) logic values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11A1F4-CDA3-4CE1-92A6-6609A530E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55" y="4069163"/>
            <a:ext cx="59563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7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CF84-DB90-DDF4-25B0-08560FA3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Built-in logic values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833AF-3E41-BBD3-AC96-5CC688BA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BA60D-67C9-BBA5-626E-832042DD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8189B-36A1-43C2-36D1-83A96E75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48667-240C-6B0F-DC64-A108F17BC969}"/>
              </a:ext>
            </a:extLst>
          </p:cNvPr>
          <p:cNvSpPr txBox="1"/>
          <p:nvPr/>
        </p:nvSpPr>
        <p:spPr>
          <a:xfrm>
            <a:off x="636037" y="1185334"/>
            <a:ext cx="611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original VHDL-87 logic values :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bit </a:t>
            </a:r>
            <a:r>
              <a:rPr lang="en-US" i="1" dirty="0">
                <a:effectLst/>
                <a:latin typeface="Helvetica" pitchFamily="2" charset="0"/>
              </a:rPr>
              <a:t>for 1-bit (scalar) signals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bit_vector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for multiple-bits (buses) signals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3C362-5F0A-5DD1-F924-54B8806C3FE3}"/>
              </a:ext>
            </a:extLst>
          </p:cNvPr>
          <p:cNvSpPr txBox="1"/>
          <p:nvPr/>
        </p:nvSpPr>
        <p:spPr>
          <a:xfrm>
            <a:off x="636037" y="4212771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unresolved data types…..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388EE-BFCE-7850-8D6C-C06A6769DE5A}"/>
              </a:ext>
            </a:extLst>
          </p:cNvPr>
          <p:cNvSpPr txBox="1"/>
          <p:nvPr/>
        </p:nvSpPr>
        <p:spPr>
          <a:xfrm>
            <a:off x="640307" y="4845697"/>
            <a:ext cx="8630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not enough to describe actual digital circuits ! (e.g. high-impedance for</a:t>
            </a:r>
            <a:r>
              <a:rPr lang="en-US" dirty="0"/>
              <a:t> </a:t>
            </a:r>
            <a:r>
              <a:rPr lang="en-US" i="1" dirty="0"/>
              <a:t>3-state buffers)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ACA098-36A1-4FE6-1B42-4362D68D0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09" y="2699398"/>
            <a:ext cx="61341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21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4415-BD57-BF09-5701-51FC73E0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Extended logic values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7EA22-7C78-9C4E-BDD0-0F3A8892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A97E8-DFC9-343D-2846-8DADD981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6AC00-B0A6-54C7-1A4C-D42DA82D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947F6D-5CA1-D2B3-69C6-F75817B3F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825" y="3429000"/>
            <a:ext cx="6159500" cy="2057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C6C374-9739-2A1E-29EF-D050D76990C2}"/>
              </a:ext>
            </a:extLst>
          </p:cNvPr>
          <p:cNvSpPr txBox="1"/>
          <p:nvPr/>
        </p:nvSpPr>
        <p:spPr>
          <a:xfrm>
            <a:off x="517849" y="2928649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require external library as defined by IEEE Std. 1164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F5F4BE-D184-A96F-8CAA-79F1013135BF}"/>
              </a:ext>
            </a:extLst>
          </p:cNvPr>
          <p:cNvSpPr txBox="1"/>
          <p:nvPr/>
        </p:nvSpPr>
        <p:spPr>
          <a:xfrm>
            <a:off x="517848" y="1206652"/>
            <a:ext cx="65298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extended VHDL logic values :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std_logic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for single-bit signals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std_logic_vector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for multiple-bits signals (buses, see later)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EA6CFB-36F4-F33D-F873-E7903B968C16}"/>
              </a:ext>
            </a:extLst>
          </p:cNvPr>
          <p:cNvSpPr txBox="1"/>
          <p:nvPr/>
        </p:nvSpPr>
        <p:spPr>
          <a:xfrm>
            <a:off x="7640216" y="1005780"/>
            <a:ext cx="45517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1 logic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0 logic zero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Z high-impedance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U uninitialized (sim. only)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X unknown (driven)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- don't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H weak high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L weak 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Helvetica" pitchFamily="2" charset="0"/>
              </a:rPr>
              <a:t>W weak signal</a:t>
            </a:r>
          </a:p>
        </p:txBody>
      </p:sp>
    </p:spTree>
    <p:extLst>
      <p:ext uri="{BB962C8B-B14F-4D97-AF65-F5344CB8AC3E}">
        <p14:creationId xmlns:p14="http://schemas.microsoft.com/office/powerpoint/2010/main" val="2144961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6150-2937-4914-E076-EEBA96F6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Buses and </a:t>
            </a:r>
            <a:r>
              <a:rPr lang="en-US" i="1" dirty="0" err="1"/>
              <a:t>endianess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4E950-0937-C241-0867-1CC0739B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A6786-FBF6-4083-8F06-D2673B37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A376D-1902-D1B5-A769-5410A678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6804-A028-DFBD-6F20-85D6DE694160}"/>
              </a:ext>
            </a:extLst>
          </p:cNvPr>
          <p:cNvSpPr txBox="1"/>
          <p:nvPr/>
        </p:nvSpPr>
        <p:spPr>
          <a:xfrm>
            <a:off x="660918" y="1312611"/>
            <a:ext cx="74442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Most Significant Bit (MSB) vs. Least Significant Bit (LSB)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ordering of bits within a multi-bit string is referred to as </a:t>
            </a:r>
            <a:r>
              <a:rPr lang="en-US" b="1" i="1" dirty="0" err="1">
                <a:effectLst/>
                <a:latin typeface="Helvetica" pitchFamily="2" charset="0"/>
              </a:rPr>
              <a:t>endianess</a:t>
            </a:r>
            <a:endParaRPr lang="en-US" b="1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big endian :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00B73-92EB-B2CA-D629-F594A659F50C}"/>
              </a:ext>
            </a:extLst>
          </p:cNvPr>
          <p:cNvSpPr txBox="1"/>
          <p:nvPr/>
        </p:nvSpPr>
        <p:spPr>
          <a:xfrm>
            <a:off x="660918" y="3295652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little endian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B9A00A-0F35-2EE0-5BA9-C7ECAE50D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18" y="2466262"/>
            <a:ext cx="6134100" cy="469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D4E414-43C0-761A-E6F8-73380288A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18" y="4024474"/>
            <a:ext cx="61214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80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9F29D-C8AD-54AF-619C-F3B3EEF0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Sum between vectors (counting…)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D71158-93F5-1CE3-419E-D12799E8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A45DD-BD60-FD9B-5226-628C0C985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FA647-5DB7-C080-348D-358E5A4F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75CB0-86A3-FA26-9965-39F285BC92A7}"/>
              </a:ext>
            </a:extLst>
          </p:cNvPr>
          <p:cNvSpPr txBox="1"/>
          <p:nvPr/>
        </p:nvSpPr>
        <p:spPr>
          <a:xfrm>
            <a:off x="536511" y="1317181"/>
            <a:ext cx="93788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In order to use the + operator between </a:t>
            </a: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std_logic_vector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you must use speci</a:t>
            </a:r>
            <a:r>
              <a:rPr lang="en-US" i="1" dirty="0">
                <a:latin typeface="Helvetica" pitchFamily="2" charset="0"/>
              </a:rPr>
              <a:t>fi</a:t>
            </a:r>
            <a:r>
              <a:rPr lang="en-US" i="1" dirty="0">
                <a:effectLst/>
                <a:latin typeface="Helvetica" pitchFamily="2" charset="0"/>
              </a:rPr>
              <a:t>c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libraries: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IEEE.std_logic_unsigned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IEEE.numeric_std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5E8DDF-8F95-8090-F271-3A5E0CD48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67" y="2417753"/>
            <a:ext cx="6146800" cy="825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3CFBDE-E676-7D40-4BC1-73592EA23474}"/>
              </a:ext>
            </a:extLst>
          </p:cNvPr>
          <p:cNvSpPr txBox="1"/>
          <p:nvPr/>
        </p:nvSpPr>
        <p:spPr>
          <a:xfrm>
            <a:off x="696167" y="3509494"/>
            <a:ext cx="90449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IEEE.std_logic_unsigned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is now DEPRECATED since: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despite the prefix IEEE they are NOT IEEE standard, but </a:t>
            </a:r>
            <a:r>
              <a:rPr lang="en-US" b="1" i="1" dirty="0">
                <a:effectLst/>
                <a:latin typeface="Helvetica" pitchFamily="2" charset="0"/>
              </a:rPr>
              <a:t>Synopsys</a:t>
            </a:r>
            <a:r>
              <a:rPr lang="en-US" b="1" dirty="0">
                <a:latin typeface="Helvetica" pitchFamily="2" charset="0"/>
              </a:rPr>
              <a:t> </a:t>
            </a:r>
            <a:r>
              <a:rPr lang="en-US" b="1" i="1" dirty="0">
                <a:effectLst/>
                <a:latin typeface="Helvetica" pitchFamily="2" charset="0"/>
              </a:rPr>
              <a:t>proprietary </a:t>
            </a:r>
            <a:r>
              <a:rPr lang="en-US" i="1" dirty="0">
                <a:effectLst/>
                <a:latin typeface="Helvetica" pitchFamily="2" charset="0"/>
              </a:rPr>
              <a:t>!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since 1995, IEEE defines </a:t>
            </a:r>
            <a:r>
              <a:rPr lang="en-US" b="1" i="1" dirty="0">
                <a:effectLst/>
                <a:latin typeface="Helvetica" pitchFamily="2" charset="0"/>
              </a:rPr>
              <a:t>numeric types </a:t>
            </a:r>
            <a:r>
              <a:rPr lang="en-US" i="1" dirty="0">
                <a:effectLst/>
                <a:latin typeface="Helvetica" pitchFamily="2" charset="0"/>
              </a:rPr>
              <a:t>and </a:t>
            </a:r>
            <a:r>
              <a:rPr lang="en-US" b="1" i="1" dirty="0">
                <a:effectLst/>
                <a:latin typeface="Helvetica" pitchFamily="2" charset="0"/>
              </a:rPr>
              <a:t>arithmetic functions </a:t>
            </a:r>
            <a:r>
              <a:rPr lang="en-US" i="1" dirty="0">
                <a:effectLst/>
                <a:latin typeface="Helvetica" pitchFamily="2" charset="0"/>
              </a:rPr>
              <a:t>in the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standard package </a:t>
            </a: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numeric_std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to outline a </a:t>
            </a:r>
            <a:r>
              <a:rPr lang="en-US" b="1" i="1" dirty="0">
                <a:effectLst/>
                <a:latin typeface="Helvetica" pitchFamily="2" charset="0"/>
              </a:rPr>
              <a:t>true standard approach </a:t>
            </a:r>
            <a:r>
              <a:rPr lang="en-US" i="1" dirty="0">
                <a:effectLst/>
                <a:latin typeface="Helvetica" pitchFamily="2" charset="0"/>
              </a:rPr>
              <a:t>for use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arithmetic operator with synthesis tools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532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606D-D667-0580-03DB-14C4D4DF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Signed/unsigned vectors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846A0-1D90-D9D1-D69C-D17A987B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476FC-4729-3114-312C-81BBD011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1E10E-068F-0C25-B106-11C7A8BB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4906D-3CF7-73D2-A64C-0794A0EB98EE}"/>
              </a:ext>
            </a:extLst>
          </p:cNvPr>
          <p:cNvSpPr txBox="1"/>
          <p:nvPr/>
        </p:nvSpPr>
        <p:spPr>
          <a:xfrm>
            <a:off x="362339" y="1252058"/>
            <a:ext cx="611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000000"/>
                </a:solidFill>
                <a:effectLst/>
                <a:latin typeface="Helvetica" pitchFamily="2" charset="0"/>
              </a:rPr>
              <a:t>Extension of </a:t>
            </a: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std_logic_vector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 </a:t>
            </a:r>
            <a:r>
              <a:rPr lang="en-US" i="1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signed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unsigned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7761D0-7A6C-46C9-DC1E-9F64AB94C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53" y="2322416"/>
            <a:ext cx="6146800" cy="1765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2B43EE-072E-7DF9-6C7D-07DFA608EF9D}"/>
              </a:ext>
            </a:extLst>
          </p:cNvPr>
          <p:cNvSpPr txBox="1"/>
          <p:nvPr/>
        </p:nvSpPr>
        <p:spPr>
          <a:xfrm>
            <a:off x="362338" y="4565885"/>
            <a:ext cx="85950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</a:t>
            </a:r>
            <a:r>
              <a:rPr lang="en-US" i="1" dirty="0" err="1">
                <a:effectLst/>
                <a:latin typeface="Helvetica" pitchFamily="2" charset="0"/>
              </a:rPr>
              <a:t>IEEE.numeric_std</a:t>
            </a:r>
            <a:r>
              <a:rPr lang="en-US" i="1" dirty="0">
                <a:effectLst/>
                <a:latin typeface="Helvetica" pitchFamily="2" charset="0"/>
              </a:rPr>
              <a:t> provides also provides functions to perform type-casting :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&lt;= </a:t>
            </a: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std_logic_vector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( &lt;unsigned signal&gt; )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&lt;= </a:t>
            </a:r>
            <a:r>
              <a:rPr lang="en-US" i="1" dirty="0" err="1">
                <a:solidFill>
                  <a:srgbClr val="0000FF"/>
                </a:solidFill>
                <a:effectLst/>
                <a:latin typeface="Helvetica" pitchFamily="2" charset="0"/>
              </a:rPr>
              <a:t>std_logic_vector</a:t>
            </a: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( &lt;signed signal&gt; )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819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27C8-D908-8A37-9D0B-687A11B6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Binary codes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AF64A-CC77-D869-760B-CAB0B305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EECE6-1688-99EF-A80F-82192AC5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E287C-4813-37F2-A859-A1AEF844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14106-825A-3DF9-2F8B-9D70CAFDAA47}"/>
              </a:ext>
            </a:extLst>
          </p:cNvPr>
          <p:cNvSpPr txBox="1"/>
          <p:nvPr/>
        </p:nvSpPr>
        <p:spPr>
          <a:xfrm>
            <a:off x="821094" y="1435367"/>
            <a:ext cx="94114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effectLst/>
                <a:latin typeface="Helvetica" pitchFamily="2" charset="0"/>
              </a:rPr>
              <a:t>"straight" binary (the usual "power of 2")</a:t>
            </a:r>
            <a:endParaRPr lang="en-US" sz="2400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effectLst/>
                <a:latin typeface="Helvetica" pitchFamily="2" charset="0"/>
              </a:rPr>
              <a:t>Gray code</a:t>
            </a:r>
            <a:endParaRPr lang="en-US" sz="2400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effectLst/>
                <a:latin typeface="Helvetica" pitchFamily="2" charset="0"/>
              </a:rPr>
              <a:t>thermometer</a:t>
            </a:r>
            <a:endParaRPr lang="en-US" sz="2400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effectLst/>
                <a:latin typeface="Helvetica" pitchFamily="2" charset="0"/>
              </a:rPr>
              <a:t>one-hot / one-cold</a:t>
            </a:r>
            <a:endParaRPr lang="en-US" sz="2400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sz="2400" i="1" dirty="0">
                <a:effectLst/>
                <a:latin typeface="Helvetica" pitchFamily="2" charset="0"/>
              </a:rPr>
              <a:t>Many many others : e.g. Hamming (for SEU protection)</a:t>
            </a:r>
            <a:endParaRPr lang="en-US" sz="24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220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78C1-DC9D-9ED4-E588-0E7AC692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Straight binary code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8637F-F3F4-C6DC-4BEB-68FCEC33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4E923-1103-7643-9D4C-875924FE5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89662-198B-772E-B65C-FBC329F8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ED3E19-6E87-180A-C07B-E5C0D9F1A545}"/>
              </a:ext>
            </a:extLst>
          </p:cNvPr>
          <p:cNvSpPr txBox="1"/>
          <p:nvPr/>
        </p:nvSpPr>
        <p:spPr>
          <a:xfrm>
            <a:off x="474306" y="1129301"/>
            <a:ext cx="8147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Usual binary strings interpreted as usual as "power of 2" integer numbers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34E940-D78A-CB36-6574-F45AB88B1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60" y="1749620"/>
            <a:ext cx="2984500" cy="181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D60BE0-20CD-C4A3-B3BC-288EB87FE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895" y="2284942"/>
            <a:ext cx="56007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9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6D54-3F23-5D08-1B8A-85D711F5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Gray code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1C8C-70E3-4E60-2451-95094DFF7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2CD16-6FD1-1FF2-2DB6-9CE75B4D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1F6CA-8EFF-B130-E06E-76B931BA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801CE-0C06-8DBF-AD0E-E9714EBCE4D2}"/>
              </a:ext>
            </a:extLst>
          </p:cNvPr>
          <p:cNvSpPr txBox="1"/>
          <p:nvPr/>
        </p:nvSpPr>
        <p:spPr>
          <a:xfrm>
            <a:off x="356119" y="1280240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Only one bit change from a code to the next one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50BFBA-7A43-A197-3E63-43F8F69F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002" y="2110274"/>
            <a:ext cx="27686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03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9157-1E84-2161-0363-900EFE216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Thermometer code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8FDBBD-EB2B-7E29-4524-C2FC63D5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EFA40-54D6-50C5-4686-CD9369F6F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3F429-3BDA-BBD3-AA49-52E716BC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30B6FA-81D8-AE03-868D-F5B29C1456AB}"/>
              </a:ext>
            </a:extLst>
          </p:cNvPr>
          <p:cNvSpPr txBox="1"/>
          <p:nvPr/>
        </p:nvSpPr>
        <p:spPr>
          <a:xfrm>
            <a:off x="281474" y="1404648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Continue to "</a:t>
            </a:r>
            <a:r>
              <a:rPr lang="en-US" i="1" dirty="0" err="1">
                <a:effectLst/>
                <a:latin typeface="Helvetica" pitchFamily="2" charset="0"/>
              </a:rPr>
              <a:t>padd</a:t>
            </a:r>
            <a:r>
              <a:rPr lang="en-US" i="1" dirty="0">
                <a:effectLst/>
                <a:latin typeface="Helvetica" pitchFamily="2" charset="0"/>
              </a:rPr>
              <a:t>" the code with a 1 on the right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F94ACE-3A37-9779-4132-147A35DB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42" y="2198264"/>
            <a:ext cx="2992996" cy="198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84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13A38-E224-F5C9-1D3E-21898458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One-hot code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D8A11-4993-88F2-D0B6-69FEE878F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69753-E17E-F89A-27BB-69C79591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7E274-0B2A-B56F-967B-57681E11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CD674-89B3-A90C-7413-5E6CD5EA127B}"/>
              </a:ext>
            </a:extLst>
          </p:cNvPr>
          <p:cNvSpPr txBox="1"/>
          <p:nvPr/>
        </p:nvSpPr>
        <p:spPr>
          <a:xfrm>
            <a:off x="356119" y="1336224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Only one bit set to one, then moving to the left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9A6858-2A7F-CB22-99CD-79460A67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98" y="2104960"/>
            <a:ext cx="2311400" cy="1739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3011D0-F5FA-3630-EAE6-D79A91EDC87E}"/>
              </a:ext>
            </a:extLst>
          </p:cNvPr>
          <p:cNvSpPr txBox="1"/>
          <p:nvPr/>
        </p:nvSpPr>
        <p:spPr>
          <a:xfrm>
            <a:off x="356119" y="4546607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The complementary is sometimes called "one cold"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567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0D57-4A39-92DF-A145-06F7A139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Integer numbers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EDF85-28B5-7707-2146-E3DBA75D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B7E37-8AC3-30D1-DA0C-A46E9DCB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3C1AA-2EFD-2EDE-6039-97DF22BC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2147A7-3075-0EFC-110F-2FC5B45113C0}"/>
              </a:ext>
            </a:extLst>
          </p:cNvPr>
          <p:cNvSpPr txBox="1"/>
          <p:nvPr/>
        </p:nvSpPr>
        <p:spPr>
          <a:xfrm>
            <a:off x="329682" y="1185334"/>
            <a:ext cx="75064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provides 32-bit integer numbers, can be signed or unsigned :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integer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natural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positive</a:t>
            </a:r>
            <a:endParaRPr lang="en-US" dirty="0">
              <a:solidFill>
                <a:srgbClr val="0000FF"/>
              </a:solidFill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DF213F-D66D-B38F-E651-4BB3E59E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38" y="2727390"/>
            <a:ext cx="60579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32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667A-D4DE-026E-780A-E2095487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Real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0B2A3-7CEF-9750-DFAD-F70BF93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92D1B-1387-1E85-8AC9-6FEDFFEB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613EF-5961-BECF-3CAA-9B9AD3D2C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B67E77-40DF-002E-0914-8E3BC88E0D7F}"/>
              </a:ext>
            </a:extLst>
          </p:cNvPr>
          <p:cNvSpPr txBox="1"/>
          <p:nvPr/>
        </p:nvSpPr>
        <p:spPr>
          <a:xfrm>
            <a:off x="517850" y="1301820"/>
            <a:ext cx="611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solidFill>
                  <a:srgbClr val="0000FF"/>
                </a:solidFill>
                <a:effectLst/>
                <a:latin typeface="Helvetica" pitchFamily="2" charset="0"/>
              </a:rPr>
              <a:t>real </a:t>
            </a:r>
            <a:r>
              <a:rPr lang="en-US" i="1" dirty="0">
                <a:effectLst/>
                <a:latin typeface="Helvetica" pitchFamily="2" charset="0"/>
              </a:rPr>
              <a:t>64-bit double-precision real numbers :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Example :</a:t>
            </a:r>
            <a:endParaRPr lang="en-US" dirty="0">
              <a:effectLst/>
              <a:latin typeface="Helvetica" pitchFamily="2" charset="0"/>
            </a:endParaRPr>
          </a:p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Useful for Real-Number Modeling (RNM)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B3910C-E8C9-301D-7315-5F60107DA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77" y="2734388"/>
            <a:ext cx="598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94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DF20-AD06-A281-C44E-7382358F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Physical data types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30E16-957D-966D-0002-D7210BEC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97838-E742-46B2-D058-3561B1CB3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16646-6B5C-7E0C-AA0F-7520B1E2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0DEC70-B718-114D-2D33-00E6D7EFD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350" y="2120900"/>
            <a:ext cx="60833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213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7C9A39-C21B-C4ED-A266-FC210D78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Numeric</a:t>
            </a:r>
            <a:r>
              <a:rPr lang="it-IT" dirty="0"/>
              <a:t> </a:t>
            </a:r>
            <a:r>
              <a:rPr lang="it-IT" dirty="0" err="1"/>
              <a:t>Std</a:t>
            </a:r>
            <a:r>
              <a:rPr lang="it-IT" dirty="0"/>
              <a:t> </a:t>
            </a:r>
            <a:r>
              <a:rPr lang="it-IT" dirty="0" err="1"/>
              <a:t>Conversions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AA2B6D8-DFBE-F7C3-633F-505373B8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0750F6C-16A3-E31E-79E0-CCBCA512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E66F722-8B42-AE49-C668-B0EC77F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34</a:t>
            </a:fld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78A51B9-A3F0-0257-1C2A-6213AD9C4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23" t="12558" r="2932" b="1262"/>
          <a:stretch>
            <a:fillRect/>
          </a:stretch>
        </p:blipFill>
        <p:spPr>
          <a:xfrm>
            <a:off x="2698172" y="1185334"/>
            <a:ext cx="6795656" cy="468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05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A02971-2587-4ECA-1F20-F3C1AF31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Composite </a:t>
            </a:r>
            <a:r>
              <a:rPr lang="it-IT" dirty="0" err="1"/>
              <a:t>type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0C3484B-9ECF-B4E4-34FD-21480644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F5098D4-57F5-909F-E8A2-317877593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0833F7B-91F2-4777-9246-A22C3624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35</a:t>
            </a:fld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A219E6F-634E-022F-0C38-A25A73D64D01}"/>
              </a:ext>
            </a:extLst>
          </p:cNvPr>
          <p:cNvSpPr txBox="1"/>
          <p:nvPr/>
        </p:nvSpPr>
        <p:spPr>
          <a:xfrm>
            <a:off x="536029" y="1035223"/>
            <a:ext cx="7157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composite type is a datatype consisting of several </a:t>
            </a:r>
            <a:r>
              <a:rPr lang="en-US" dirty="0" err="1"/>
              <a:t>subelements</a:t>
            </a:r>
            <a:r>
              <a:rPr lang="en-US" dirty="0"/>
              <a:t>.</a:t>
            </a:r>
            <a:endParaRPr lang="it-IT" dirty="0"/>
          </a:p>
        </p:txBody>
      </p:sp>
      <p:pic>
        <p:nvPicPr>
          <p:cNvPr id="9" name="Immagine 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E9800FE2-8D4F-2D41-938C-2EC45754A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77" y="1410069"/>
            <a:ext cx="6600825" cy="26670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ED32885-C44A-10ED-4B6B-FA428AE0C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62" y="4372569"/>
            <a:ext cx="10391775" cy="41910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D3B72F7-DCC8-8374-A05A-8B94F06E7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62" y="4860779"/>
            <a:ext cx="1035367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876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0A97-CB73-65E6-35D0-CE0F63530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Boolean algebra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24DBC-A1F2-D7C8-3FB4-0F307875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0A5F7-EDF0-6270-399C-210704100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20FAF-4133-C568-44DA-7596977E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03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C588-7C9C-3457-5924-D572DD9DA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NOT gate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51263-E642-DCCB-2731-D5F957BA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3506C-0E15-1083-AF88-75F74A05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01CB3-F7A2-E294-D762-792BDC1D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B889D-1C0E-1638-CD37-BB298C8FB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55137"/>
            <a:ext cx="3953977" cy="2038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293CEB-158D-32E8-1C75-3B18F972949A}"/>
              </a:ext>
            </a:extLst>
          </p:cNvPr>
          <p:cNvSpPr txBox="1"/>
          <p:nvPr/>
        </p:nvSpPr>
        <p:spPr>
          <a:xfrm>
            <a:off x="499188" y="4216272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53107A-EB3C-42FC-D76A-B7E308B56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513" y="5029851"/>
            <a:ext cx="6032500" cy="469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B0A8EB-C53A-B502-DD6C-8ED7C1239031}"/>
                  </a:ext>
                </a:extLst>
              </p:cNvPr>
              <p:cNvSpPr txBox="1"/>
              <p:nvPr/>
            </p:nvSpPr>
            <p:spPr>
              <a:xfrm>
                <a:off x="5464280" y="3495026"/>
                <a:ext cx="6187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B0A8EB-C53A-B502-DD6C-8ED7C1239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280" y="3495026"/>
                <a:ext cx="618759" cy="276999"/>
              </a:xfrm>
              <a:prstGeom prst="rect">
                <a:avLst/>
              </a:prstGeom>
              <a:blipFill>
                <a:blip r:embed="rId4"/>
                <a:stretch>
                  <a:fillRect l="-4000" r="-60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1850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51E2-1D73-81A3-5358-BFA6C0C8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AND gate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31E225-64B4-FA34-B375-B8914536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4A805-7A6D-4D50-AB8F-A76E692B3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DD96F-C943-0A43-69CF-33149AED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E3D648-E999-BD9E-7A92-830C64480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9" y="1235637"/>
            <a:ext cx="3876740" cy="1913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5FDEA4-EE6C-A858-BA77-5846189B274A}"/>
                  </a:ext>
                </a:extLst>
              </p:cNvPr>
              <p:cNvSpPr txBox="1"/>
              <p:nvPr/>
            </p:nvSpPr>
            <p:spPr>
              <a:xfrm>
                <a:off x="5418425" y="3290500"/>
                <a:ext cx="9646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5FDEA4-EE6C-A858-BA77-5846189B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425" y="3290500"/>
                <a:ext cx="964688" cy="276999"/>
              </a:xfrm>
              <a:prstGeom prst="rect">
                <a:avLst/>
              </a:prstGeom>
              <a:blipFill>
                <a:blip r:embed="rId3"/>
                <a:stretch>
                  <a:fillRect l="-5195" r="-389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B4F031B-9749-6254-AE90-A4ECD5E21E1B}"/>
              </a:ext>
            </a:extLst>
          </p:cNvPr>
          <p:cNvSpPr txBox="1"/>
          <p:nvPr/>
        </p:nvSpPr>
        <p:spPr>
          <a:xfrm>
            <a:off x="225490" y="4022881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139A83-793D-28E6-2299-1FC20BB06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61" y="4724659"/>
            <a:ext cx="6134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89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38D3-9CD3-2F7C-09CA-020648EA2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OR gate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40D23-890D-AC97-CF8D-FA76C88E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B73FB-0425-0A22-4106-07F32979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1061D-4E03-5044-671F-7ED71AAF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39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6B6911-41A3-7DB6-3ED6-DE66E3A41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1357842"/>
            <a:ext cx="4660900" cy="2413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FF3226-75FD-283E-11D7-9C5C01D8E425}"/>
                  </a:ext>
                </a:extLst>
              </p:cNvPr>
              <p:cNvSpPr txBox="1"/>
              <p:nvPr/>
            </p:nvSpPr>
            <p:spPr>
              <a:xfrm>
                <a:off x="5547255" y="3666351"/>
                <a:ext cx="10720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2FF3226-75FD-283E-11D7-9C5C01D8E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255" y="3666351"/>
                <a:ext cx="1072088" cy="276999"/>
              </a:xfrm>
              <a:prstGeom prst="rect">
                <a:avLst/>
              </a:prstGeom>
              <a:blipFill>
                <a:blip r:embed="rId3"/>
                <a:stretch>
                  <a:fillRect l="-4651" r="-3488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22AC472-E56F-055F-017F-A2BFE98EA07E}"/>
              </a:ext>
            </a:extLst>
          </p:cNvPr>
          <p:cNvSpPr txBox="1"/>
          <p:nvPr/>
        </p:nvSpPr>
        <p:spPr>
          <a:xfrm>
            <a:off x="275253" y="4297138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F13592-837C-56EA-8CCE-8A3CE00EB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73" y="5041510"/>
            <a:ext cx="61087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362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D305F-9D66-292A-0032-FB0CBF6B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NAND gate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F0AAD-FC4D-A51D-6C20-E43EDF2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EFAD5-2E82-A071-F32C-149BB07D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B38DC-DA9E-C01C-3BD0-742D8976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9BBFD9-3850-F7E7-7931-167C3C0FF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822368"/>
            <a:ext cx="4242912" cy="21421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E6921D-4D1E-7D9E-B004-DC372FBF67F6}"/>
                  </a:ext>
                </a:extLst>
              </p:cNvPr>
              <p:cNvSpPr txBox="1"/>
              <p:nvPr/>
            </p:nvSpPr>
            <p:spPr>
              <a:xfrm>
                <a:off x="5623249" y="2973355"/>
                <a:ext cx="964688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E6921D-4D1E-7D9E-B004-DC372FBF6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249" y="2973355"/>
                <a:ext cx="964688" cy="277576"/>
              </a:xfrm>
              <a:prstGeom prst="rect">
                <a:avLst/>
              </a:prstGeom>
              <a:blipFill>
                <a:blip r:embed="rId3"/>
                <a:stretch>
                  <a:fillRect l="-5195" r="-519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D2B10E1-BFD6-E234-DDE4-DC05B81EA97E}"/>
              </a:ext>
            </a:extLst>
          </p:cNvPr>
          <p:cNvSpPr txBox="1"/>
          <p:nvPr/>
        </p:nvSpPr>
        <p:spPr>
          <a:xfrm>
            <a:off x="300136" y="3963232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E1DF09-F662-1F63-A6B1-06FB1942E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95" y="4766057"/>
            <a:ext cx="60833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236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AFC4-81AB-ED57-D12F-D2EFF9E6E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NOR gate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EE55F-A7C9-1B24-D4D1-31840184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9F59B-EB5F-238B-A56E-133058CBE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516D5-C908-24E8-16DB-08602AC5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60FE6D-AC2D-5F7D-992C-946CFE144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641" y="1114620"/>
            <a:ext cx="3886718" cy="20157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F75D00-B648-5B01-4177-3EA26763367D}"/>
                  </a:ext>
                </a:extLst>
              </p:cNvPr>
              <p:cNvSpPr txBox="1"/>
              <p:nvPr/>
            </p:nvSpPr>
            <p:spPr>
              <a:xfrm>
                <a:off x="5430416" y="3151424"/>
                <a:ext cx="1123384" cy="2775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F75D00-B648-5B01-4177-3EA267633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416" y="3151424"/>
                <a:ext cx="1123384" cy="277576"/>
              </a:xfrm>
              <a:prstGeom prst="rect">
                <a:avLst/>
              </a:prstGeom>
              <a:blipFill>
                <a:blip r:embed="rId3"/>
                <a:stretch>
                  <a:fillRect l="-4494" t="-8696" r="-4494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BDB1594-EE08-7F7D-936F-93C22E949475}"/>
              </a:ext>
            </a:extLst>
          </p:cNvPr>
          <p:cNvSpPr txBox="1"/>
          <p:nvPr/>
        </p:nvSpPr>
        <p:spPr>
          <a:xfrm>
            <a:off x="213049" y="4040015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F09B6D-F60F-8CC0-8DE8-DFBBBA206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27" y="4735148"/>
            <a:ext cx="60960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07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C284-E8E5-B2D7-82B5-90923E3B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De Morgan's theorem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1F245-CBAE-66D6-E273-1CDF8108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47AF27-CC50-61D7-12FE-3987F906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3152E-375E-A712-A123-69F09C49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CC088-A404-C733-AD2A-66C450A97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099" y="1185334"/>
            <a:ext cx="7772400" cy="17833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F2487C-F861-2C75-867F-A245DD014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62" y="1865842"/>
            <a:ext cx="1485900" cy="368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06C6CE-6C0B-6D30-25C8-423F75B38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133655"/>
            <a:ext cx="7772400" cy="1859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06A83C-9437-C61A-65F4-67ECD4987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62" y="3761846"/>
            <a:ext cx="15367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7931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E6A8-CA67-7CB2-3858-AB809F1D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XOR gate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5D9D2-3E4D-94D3-2116-BE6FBCCF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F3F0F-6D29-CC4C-3C45-0C7EB87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26699-1F1A-363E-B2F5-2250D650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66F517-0338-E4A4-2C38-AC808BBE5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217" y="1139242"/>
            <a:ext cx="3963566" cy="1986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E6FA16-B46D-6251-9B3B-A5060409F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3244850"/>
            <a:ext cx="2641600" cy="368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D86593-5008-A9E3-7BD7-0B0806E6ADFA}"/>
              </a:ext>
            </a:extLst>
          </p:cNvPr>
          <p:cNvSpPr txBox="1"/>
          <p:nvPr/>
        </p:nvSpPr>
        <p:spPr>
          <a:xfrm>
            <a:off x="200608" y="3915186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388459-DD65-0244-76D4-CA08098A8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02" y="4615584"/>
            <a:ext cx="61214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84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E39B-E8E4-C433-A6FC-6147F7ED2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XNOR gate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179ED-FB41-91F9-989D-269273FB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6449A1-A241-CF25-8A7C-9B324527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352E0-39E7-F763-0F86-7D1F66424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B7DF3F-1BD7-F359-A394-A7F838FA6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029" y="938893"/>
            <a:ext cx="3793942" cy="1953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B070C3-08A4-80AC-0E9E-05B35654F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584" y="2803460"/>
            <a:ext cx="2705100" cy="342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800456-D077-7B17-0509-3036102618F8}"/>
              </a:ext>
            </a:extLst>
          </p:cNvPr>
          <p:cNvSpPr txBox="1"/>
          <p:nvPr/>
        </p:nvSpPr>
        <p:spPr>
          <a:xfrm>
            <a:off x="219270" y="3429000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6AA6BC-5FE7-93BF-C1CC-2427C1266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02" y="3965511"/>
            <a:ext cx="6070600" cy="4699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A8AEBF-70CA-4E44-08B1-3A6522A05114}"/>
              </a:ext>
            </a:extLst>
          </p:cNvPr>
          <p:cNvSpPr txBox="1"/>
          <p:nvPr/>
        </p:nvSpPr>
        <p:spPr>
          <a:xfrm>
            <a:off x="219270" y="4813429"/>
            <a:ext cx="72218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not implemented in the original VHDL-87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later added as part of VHDL-93 revision upon designers request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detects if two bits are identical</a:t>
            </a:r>
            <a:endParaRPr lang="en-US" dirty="0"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effectLst/>
                <a:latin typeface="Helvetica" pitchFamily="2" charset="0"/>
              </a:rPr>
              <a:t>fundamental component for binary comparators</a:t>
            </a:r>
            <a:endParaRPr lang="en-US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920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7184-83BA-7550-D969-B770CCDC5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Propagation delays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50512E-4712-C4A1-A72C-9084EEE2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818BE-8295-3661-043B-3D650CEB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ACD1D-44D5-BE7B-0FCA-73687942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4764F-15C4-4D5E-AA0D-3CFF4365E37A}"/>
              </a:ext>
            </a:extLst>
          </p:cNvPr>
          <p:cNvSpPr txBox="1"/>
          <p:nvPr/>
        </p:nvSpPr>
        <p:spPr>
          <a:xfrm>
            <a:off x="152397" y="2082673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>
                <a:effectLst/>
                <a:latin typeface="Helvetica" pitchFamily="2" charset="0"/>
              </a:rPr>
              <a:t>VHDL syntax :</a:t>
            </a:r>
            <a:endParaRPr lang="en-US" dirty="0">
              <a:effectLst/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F0E484-F5E3-56CF-5D0B-37F2F4AE4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36" y="2601297"/>
            <a:ext cx="6134100" cy="64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1D61DC-2957-3F8D-F6F8-FE58A9EE1B3E}"/>
              </a:ext>
            </a:extLst>
          </p:cNvPr>
          <p:cNvSpPr txBox="1"/>
          <p:nvPr/>
        </p:nvSpPr>
        <p:spPr>
          <a:xfrm>
            <a:off x="152397" y="3683302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>
                <a:effectLst/>
                <a:latin typeface="Helvetica" pitchFamily="2" charset="0"/>
              </a:rPr>
              <a:t>Only for simulation purposes !</a:t>
            </a:r>
            <a:endParaRPr lang="en-US" b="1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781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ADB1-7E3C-A45F-0703-01BE7450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Multiple-inputs gates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CED9F-473F-7A40-BCD3-14760F1A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7686F-F93E-89C0-4BD8-21E3A9D1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40958-C2E6-F2C3-104D-07934A09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1DAEA-D9A0-B0BA-B56D-FFD2E260A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75" y="1358900"/>
            <a:ext cx="6172200" cy="48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F85B8F-4401-02D8-11D3-1D102041F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5" y="2130361"/>
            <a:ext cx="61722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E0CFB-3EDD-9EDE-B203-9C8A883D5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5" y="3167224"/>
            <a:ext cx="6159500" cy="66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FCFBC9-CD4C-2146-D64D-7168880EA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5" y="4159637"/>
            <a:ext cx="61214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88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9EBE-E98A-EF65-341E-28014474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when/else conditional signal assignment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D2B56-2DAD-CB6F-FBCC-6C16B1CA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AFE96-6898-116F-6BB9-C56273B1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5AF2-C8AE-330D-F6F1-CF008E72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4F9697-D5E4-9320-117E-53FA1C51D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50" y="2882900"/>
            <a:ext cx="61595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909635-658E-6A90-8A21-8A87A5ED6CEF}"/>
              </a:ext>
            </a:extLst>
          </p:cNvPr>
          <p:cNvSpPr txBox="1"/>
          <p:nvPr/>
        </p:nvSpPr>
        <p:spPr>
          <a:xfrm>
            <a:off x="2117167" y="1739499"/>
            <a:ext cx="85254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concurrent conditional assignment</a:t>
            </a:r>
            <a:r>
              <a:rPr lang="en-US" dirty="0"/>
              <a:t> used outside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Evaluates conditions in order and assigns the first matching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Commonly used for </a:t>
            </a:r>
            <a:r>
              <a:rPr lang="en-US" b="1" dirty="0"/>
              <a:t>simple combinational logic</a:t>
            </a:r>
            <a:r>
              <a:rPr lang="en-US" dirty="0"/>
              <a:t> and multiplexers.</a:t>
            </a:r>
          </a:p>
        </p:txBody>
      </p:sp>
    </p:spTree>
    <p:extLst>
      <p:ext uri="{BB962C8B-B14F-4D97-AF65-F5344CB8AC3E}">
        <p14:creationId xmlns:p14="http://schemas.microsoft.com/office/powerpoint/2010/main" val="2316930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134ED3-9236-A05F-1F39-C7C758628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‘process’ structure 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7D23A22-6C16-61BC-9413-D367DDB51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1501F64-7644-5764-111A-C9F6069A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91F2BF1-42FD-4521-8835-E995EA62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48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F144B4-EE89-CDA7-9444-C8700D18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07" y="1492205"/>
            <a:ext cx="3927070" cy="434103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C3BB7DF-ECBA-ED7B-5535-BA93FA1DF080}"/>
              </a:ext>
            </a:extLst>
          </p:cNvPr>
          <p:cNvSpPr txBox="1"/>
          <p:nvPr/>
        </p:nvSpPr>
        <p:spPr>
          <a:xfrm>
            <a:off x="4785713" y="1295087"/>
            <a:ext cx="6887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“In VHDL, the process statement contains </a:t>
            </a:r>
            <a:r>
              <a:rPr lang="en-US" b="1" dirty="0"/>
              <a:t>sequential</a:t>
            </a:r>
            <a:r>
              <a:rPr lang="en-US" dirty="0"/>
              <a:t> statements.</a:t>
            </a:r>
          </a:p>
          <a:p>
            <a:pPr>
              <a:buNone/>
            </a:pPr>
            <a:r>
              <a:rPr lang="en-US" dirty="0"/>
              <a:t>Processes are only permitted inside an architecture. The statements within processes execute sequentially, not concurrently.”</a:t>
            </a:r>
          </a:p>
        </p:txBody>
      </p:sp>
      <p:pic>
        <p:nvPicPr>
          <p:cNvPr id="11" name="Immagine 10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012A768-BD53-9504-65AB-061968043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241" y="3613666"/>
            <a:ext cx="3196961" cy="2430519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C0D8C84-8AB2-D90E-30F0-0EE9B954F3E1}"/>
              </a:ext>
            </a:extLst>
          </p:cNvPr>
          <p:cNvSpPr txBox="1"/>
          <p:nvPr/>
        </p:nvSpPr>
        <p:spPr>
          <a:xfrm>
            <a:off x="8892245" y="3244334"/>
            <a:ext cx="2680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 err="1"/>
              <a:t>Sequential</a:t>
            </a:r>
            <a:r>
              <a:rPr lang="it-IT" b="1" dirty="0"/>
              <a:t> </a:t>
            </a:r>
            <a:r>
              <a:rPr lang="it-IT" b="1" dirty="0" err="1"/>
              <a:t>logic</a:t>
            </a:r>
            <a:endParaRPr lang="it-IT" b="1" dirty="0"/>
          </a:p>
        </p:txBody>
      </p:sp>
      <p:pic>
        <p:nvPicPr>
          <p:cNvPr id="15" name="Immagine 1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1CB0D1D-AEEC-5993-9BE2-0149DC5F2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591" y="3662722"/>
            <a:ext cx="3942939" cy="2160703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F397580-0893-78A0-EBBB-4AF3AF7C4D07}"/>
              </a:ext>
            </a:extLst>
          </p:cNvPr>
          <p:cNvSpPr txBox="1"/>
          <p:nvPr/>
        </p:nvSpPr>
        <p:spPr>
          <a:xfrm>
            <a:off x="5094890" y="3248854"/>
            <a:ext cx="2504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b="1" dirty="0" err="1"/>
              <a:t>Combinational</a:t>
            </a:r>
            <a:r>
              <a:rPr lang="it-IT" b="1" dirty="0"/>
              <a:t> </a:t>
            </a:r>
            <a:r>
              <a:rPr lang="it-IT" b="1" dirty="0" err="1"/>
              <a:t>logic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818227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EC0473-59CE-4122-69A7-A6337EA3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If</a:t>
            </a:r>
            <a:r>
              <a:rPr lang="it-IT" dirty="0"/>
              <a:t>/</a:t>
            </a:r>
            <a:r>
              <a:rPr lang="it-IT" dirty="0" err="1"/>
              <a:t>elsif</a:t>
            </a:r>
            <a:r>
              <a:rPr lang="it-IT" dirty="0"/>
              <a:t>/else </a:t>
            </a:r>
            <a:r>
              <a:rPr lang="it-IT" dirty="0" err="1"/>
              <a:t>statement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D844DCE-55D1-8AF3-39E0-7A1A29E8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03E241-E832-D1DC-6335-43B11E70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4FF623-C3FD-D68F-2F1D-D79355EC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49</a:t>
            </a:fld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237B2BD-0DF2-C06A-7F6B-6D29777F6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812" y="1473297"/>
            <a:ext cx="3740830" cy="45950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7C51F9-8228-9F2E-347F-3D9CFC0F006F}"/>
              </a:ext>
            </a:extLst>
          </p:cNvPr>
          <p:cNvSpPr txBox="1"/>
          <p:nvPr/>
        </p:nvSpPr>
        <p:spPr>
          <a:xfrm>
            <a:off x="531581" y="1473297"/>
            <a:ext cx="6112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conditional decisions with </a:t>
            </a:r>
            <a:r>
              <a:rPr lang="en-US" b="1" dirty="0"/>
              <a:t>priority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Conditions are evaluated </a:t>
            </a:r>
            <a:r>
              <a:rPr lang="en-US" b="1" dirty="0"/>
              <a:t>top-to-bottom</a:t>
            </a:r>
            <a:r>
              <a:rPr lang="en-US" dirty="0"/>
              <a:t>, and the first true condition is executed.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Commonly used in </a:t>
            </a:r>
            <a:r>
              <a:rPr lang="en-US" b="1" dirty="0"/>
              <a:t>clocked logic</a:t>
            </a:r>
            <a:r>
              <a:rPr lang="en-US" dirty="0"/>
              <a:t> and control paths.</a:t>
            </a:r>
          </a:p>
        </p:txBody>
      </p:sp>
    </p:spTree>
    <p:extLst>
      <p:ext uri="{BB962C8B-B14F-4D97-AF65-F5344CB8AC3E}">
        <p14:creationId xmlns:p14="http://schemas.microsoft.com/office/powerpoint/2010/main" val="3767475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350971-9205-2F79-6D71-452E6B49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Case/</a:t>
            </a:r>
            <a:r>
              <a:rPr lang="it-IT" dirty="0" err="1"/>
              <a:t>when</a:t>
            </a:r>
            <a:r>
              <a:rPr lang="it-IT" dirty="0"/>
              <a:t>  </a:t>
            </a:r>
            <a:r>
              <a:rPr lang="it-IT" dirty="0" err="1"/>
              <a:t>statement</a:t>
            </a:r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70F6CF4-669A-1C25-A8DD-67564CBD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10ECFAC-BF10-AEA7-FB6C-899EAF66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0EBB4A-48CD-4735-8499-125DFBE7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50</a:t>
            </a:fld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7BFED02-1F92-5582-0F62-B05D9AED4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7428" y="1185334"/>
            <a:ext cx="3867150" cy="4733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6A1BF9-1E7E-8E7C-658A-9F0E8B831DFC}"/>
              </a:ext>
            </a:extLst>
          </p:cNvPr>
          <p:cNvSpPr txBox="1"/>
          <p:nvPr/>
        </p:nvSpPr>
        <p:spPr>
          <a:xfrm>
            <a:off x="379415" y="1185334"/>
            <a:ext cx="67309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selecting </a:t>
            </a:r>
            <a:r>
              <a:rPr lang="en-US" b="1" dirty="0"/>
              <a:t>one of many mutually exclusive options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choices are evaluated in parallel, </a:t>
            </a:r>
            <a:r>
              <a:rPr lang="en-US" b="1" dirty="0"/>
              <a:t>no priority</a:t>
            </a:r>
            <a:r>
              <a:rPr lang="en-US" dirty="0"/>
              <a:t> between branches.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 for </a:t>
            </a:r>
            <a:r>
              <a:rPr lang="en-US" b="1" dirty="0"/>
              <a:t>state machines</a:t>
            </a:r>
            <a:r>
              <a:rPr lang="en-US" dirty="0"/>
              <a:t> and multiplexers..</a:t>
            </a:r>
          </a:p>
        </p:txBody>
      </p:sp>
    </p:spTree>
    <p:extLst>
      <p:ext uri="{BB962C8B-B14F-4D97-AF65-F5344CB8AC3E}">
        <p14:creationId xmlns:p14="http://schemas.microsoft.com/office/powerpoint/2010/main" val="34352249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BA26-FDF5-6DE2-84E4-AAD50FDA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</a:t>
            </a:r>
            <a:r>
              <a:rPr lang="it-IT" dirty="0" err="1"/>
              <a:t>statement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900EF-AD42-309F-C0F4-43A05440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19/01/2026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88E00-8039-94B0-5CE2-35110E76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Stefan Cristi Zugravel, elettronica base, TPS lezione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2CF2-4538-F1C2-44D7-B49550F5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12E76-5DE4-834B-BE10-AD31AA7B20EC}" type="slidenum">
              <a:rPr lang="en-US" smtClean="0"/>
              <a:t>51</a:t>
            </a:fld>
            <a:endParaRPr lang="en-US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5AFBFE6-1081-B6F7-7292-2D47F374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896"/>
          <a:stretch>
            <a:fillRect/>
          </a:stretch>
        </p:blipFill>
        <p:spPr>
          <a:xfrm>
            <a:off x="6479242" y="1670505"/>
            <a:ext cx="5534960" cy="35169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DB35B5-6EBA-F1BB-EC56-3FF6FDA15B8D}"/>
              </a:ext>
            </a:extLst>
          </p:cNvPr>
          <p:cNvSpPr txBox="1"/>
          <p:nvPr/>
        </p:nvSpPr>
        <p:spPr>
          <a:xfrm>
            <a:off x="242044" y="1670505"/>
            <a:ext cx="6113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Repeats a set of sequential statements for a fixed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</a:t>
            </a:r>
            <a:r>
              <a:rPr lang="en-US" b="1" dirty="0"/>
              <a:t>iterating over arrays or buses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Loops are </a:t>
            </a:r>
            <a:r>
              <a:rPr lang="en-US" b="1" dirty="0"/>
              <a:t>unrolled in hardware</a:t>
            </a:r>
            <a:r>
              <a:rPr lang="en-US" dirty="0"/>
              <a:t>, not executed over time.</a:t>
            </a:r>
          </a:p>
        </p:txBody>
      </p:sp>
    </p:spTree>
    <p:extLst>
      <p:ext uri="{BB962C8B-B14F-4D97-AF65-F5344CB8AC3E}">
        <p14:creationId xmlns:p14="http://schemas.microsoft.com/office/powerpoint/2010/main" val="425790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ADE55867-5D67-1E41-9192-86340F9BEBDB}" vid="{B520FB49-E285-CC43-B384-56C483B2EB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2743</TotalTime>
  <Words>2453</Words>
  <Application>Microsoft Macintosh PowerPoint</Application>
  <PresentationFormat>Widescreen</PresentationFormat>
  <Paragraphs>393</Paragraphs>
  <Slides>51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Aptos</vt:lpstr>
      <vt:lpstr>Aptos Display</vt:lpstr>
      <vt:lpstr>Arial</vt:lpstr>
      <vt:lpstr>Cambria Math</vt:lpstr>
      <vt:lpstr>Helvetica</vt:lpstr>
      <vt:lpstr>Office Theme</vt:lpstr>
      <vt:lpstr>Lezione 3 Digital systems &amp; VHDL</vt:lpstr>
      <vt:lpstr>Digital systems</vt:lpstr>
      <vt:lpstr>Classification of digital circuits</vt:lpstr>
      <vt:lpstr>Hardware Description Languages (HDL)</vt:lpstr>
      <vt:lpstr>Hardware Description Languages (HDL)</vt:lpstr>
      <vt:lpstr>Hardware Description Languages (HDL)</vt:lpstr>
      <vt:lpstr>VHDL</vt:lpstr>
      <vt:lpstr>Verilog</vt:lpstr>
      <vt:lpstr>Verilog vs. VHDL</vt:lpstr>
      <vt:lpstr>Digital simulators</vt:lpstr>
      <vt:lpstr>VHDL fundamentals</vt:lpstr>
      <vt:lpstr>Case sensitivity, statements, white spaces</vt:lpstr>
      <vt:lpstr>Comments</vt:lpstr>
      <vt:lpstr>VHDL core elements</vt:lpstr>
      <vt:lpstr>Entity declaration</vt:lpstr>
      <vt:lpstr>Port list</vt:lpstr>
      <vt:lpstr>Architecture declaration</vt:lpstr>
      <vt:lpstr>Testbench</vt:lpstr>
      <vt:lpstr>VHDL data types</vt:lpstr>
      <vt:lpstr>Logic constants</vt:lpstr>
      <vt:lpstr>Built-in logic values</vt:lpstr>
      <vt:lpstr>Extended logic values </vt:lpstr>
      <vt:lpstr>Buses and endianess</vt:lpstr>
      <vt:lpstr>Sum between vectors (counting…)</vt:lpstr>
      <vt:lpstr>Signed/unsigned vectors</vt:lpstr>
      <vt:lpstr>Binary codes</vt:lpstr>
      <vt:lpstr>Straight binary code</vt:lpstr>
      <vt:lpstr>Gray code</vt:lpstr>
      <vt:lpstr>Thermometer code</vt:lpstr>
      <vt:lpstr>One-hot code</vt:lpstr>
      <vt:lpstr>Integer numbers</vt:lpstr>
      <vt:lpstr>Real</vt:lpstr>
      <vt:lpstr>Physical data types</vt:lpstr>
      <vt:lpstr>Numeric Std Conversions</vt:lpstr>
      <vt:lpstr>Composite type</vt:lpstr>
      <vt:lpstr>Boolean algebra</vt:lpstr>
      <vt:lpstr>NOT gate</vt:lpstr>
      <vt:lpstr>AND gate</vt:lpstr>
      <vt:lpstr>OR gate</vt:lpstr>
      <vt:lpstr>NAND gate</vt:lpstr>
      <vt:lpstr>NOR gate</vt:lpstr>
      <vt:lpstr>De Morgan's theorem</vt:lpstr>
      <vt:lpstr>XOR gate</vt:lpstr>
      <vt:lpstr>XNOR gate</vt:lpstr>
      <vt:lpstr>Propagation delays</vt:lpstr>
      <vt:lpstr>Multiple-inputs gates</vt:lpstr>
      <vt:lpstr>when/else conditional signal assignment</vt:lpstr>
      <vt:lpstr>VHDL ‘process’ structure </vt:lpstr>
      <vt:lpstr>If/elsif/else statement</vt:lpstr>
      <vt:lpstr>Case/when  statement</vt:lpstr>
      <vt:lpstr>For loop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Cristi Zugravel</dc:creator>
  <cp:lastModifiedBy>Stefan Cristi Zugravel</cp:lastModifiedBy>
  <cp:revision>24</cp:revision>
  <dcterms:created xsi:type="dcterms:W3CDTF">2025-12-19T16:19:35Z</dcterms:created>
  <dcterms:modified xsi:type="dcterms:W3CDTF">2026-01-14T12:57:33Z</dcterms:modified>
</cp:coreProperties>
</file>